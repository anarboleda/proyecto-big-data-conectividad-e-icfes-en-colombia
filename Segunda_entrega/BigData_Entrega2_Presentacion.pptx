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8F4FD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8F4FD"/>
                </a:solidFill>
                <a:latin typeface="Arial"/>
              </a:rPr>
              <a:t>PB1: Accesos por Tecnología - Buenaventura 2017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Accesos (millones)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F4F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2F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FF9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BAFD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XDSL</c:v>
                  </c:pt>
                  <c:pt idx="1">
                    <c:v>Cable</c:v>
                  </c:pt>
                  <c:pt idx="2">
                    <c:v>Otras</c:v>
                  </c:pt>
                  <c:pt idx="3">
                    <c:v>Fiber</c:v>
                  </c:pt>
                  <c:pt idx="4">
                    <c:v>Otras2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211.7</c:v>
                </c:pt>
                <c:pt idx="1">
                  <c:v>44.2</c:v>
                </c:pt>
                <c:pt idx="2">
                  <c:v>29</c:v>
                </c:pt>
                <c:pt idx="3">
                  <c:v>14.1</c:v>
                </c:pt>
                <c:pt idx="4">
                  <c:v>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8F4F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0F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E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8F4FD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8F4FD"/>
                </a:solidFill>
                <a:latin typeface="Arial"/>
              </a:rPr>
              <a:t>PB2: Internet en Hogar vs Rendimiento (Buenaventura)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Puntaje ICFES</c:v>
                </c:pt>
              </c:strCache>
            </c:strRef>
          </c:tx>
          <c:spPr>
            <a:solidFill>
              <a:srgbClr val="7B2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F4F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2F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FF9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Sin info</c:v>
                  </c:pt>
                  <c:pt idx="1">
                    <c:v>Sin internet</c:v>
                  </c:pt>
                  <c:pt idx="2">
                    <c:v>Con internet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120.4</c:v>
                </c:pt>
                <c:pt idx="1">
                  <c:v>126.3</c:v>
                </c:pt>
                <c:pt idx="2">
                  <c:v>130.2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8F4F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F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E3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E8F4FD"/>
                </a:solidFill>
                <a:latin typeface="Arial"/>
              </a:defRPr>
            </a:pPr>
            <a:r>
              <a:rPr sz="950" b="0" i="0" u="none" strike="noStrike">
                <a:solidFill>
                  <a:srgbClr val="E8F4FD"/>
                </a:solidFill>
                <a:latin typeface="Arial"/>
              </a:rPr>
              <a:t>PB8: Educación Superior vs Media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Matrícula superior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8F4F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Riohacha</c:v>
                  </c:pt>
                  <c:pt idx="1">
                    <c:v>Quibdó</c:v>
                  </c:pt>
                  <c:pt idx="2">
                    <c:v>Buenaventura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237.1</c:v>
                </c:pt>
                <c:pt idx="1">
                  <c:v>192.9</c:v>
                </c:pt>
                <c:pt idx="2">
                  <c:v>98.4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Rendimiento media</c:v>
                </c:pt>
              </c:strCache>
            </c:strRef>
          </c:tx>
          <c:spPr>
            <a:solidFill>
              <a:srgbClr val="7B2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8F4F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Riohacha</c:v>
                  </c:pt>
                  <c:pt idx="1">
                    <c:v>Quibdó</c:v>
                  </c:pt>
                  <c:pt idx="2">
                    <c:v>Buenaventura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132.2</c:v>
                </c:pt>
                <c:pt idx="1">
                  <c:v>118.3</c:v>
                </c:pt>
                <c:pt idx="2">
                  <c:v>128.9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8F4F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F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7BAFD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E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525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120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07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525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716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688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75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61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634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120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066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29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202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75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661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148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093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580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552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039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525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29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9202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175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661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066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0525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229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716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202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688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175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661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148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634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120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607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093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580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066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552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039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525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3152" y="0"/>
            <a:ext cx="9070848" cy="457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57200" y="457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4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 BIG DATA</a:t>
            </a:r>
            <a:endParaRPr lang="en-US" sz="3600" dirty="0"/>
          </a:p>
        </p:txBody>
      </p:sp>
      <p:sp>
        <p:nvSpPr>
          <p:cNvPr id="159" name="Text 157"/>
          <p:cNvSpPr/>
          <p:nvPr/>
        </p:nvSpPr>
        <p:spPr>
          <a:xfrm>
            <a:off x="457200" y="12344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2: Preparación de datos,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Presentación de Resultados</a:t>
            </a:r>
            <a:endParaRPr lang="en-US" sz="2000" dirty="0"/>
          </a:p>
        </p:txBody>
      </p:sp>
      <p:sp>
        <p:nvSpPr>
          <p:cNvPr id="160" name="Shape 158"/>
          <p:cNvSpPr/>
          <p:nvPr/>
        </p:nvSpPr>
        <p:spPr>
          <a:xfrm>
            <a:off x="457200" y="2286000"/>
            <a:ext cx="365760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57200" y="2322576"/>
            <a:ext cx="3657600" cy="18288"/>
          </a:xfrm>
          <a:prstGeom prst="rect">
            <a:avLst/>
          </a:prstGeom>
          <a:solidFill>
            <a:srgbClr val="00FF94">
              <a:alpha val="40000"/>
            </a:srgbClr>
          </a:solidFill>
          <a:ln w="12700">
            <a:solidFill>
              <a:srgbClr val="00FF94">
                <a:alpha val="40000"/>
              </a:srgbClr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57200" y="2423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Alto Volumen de Datos</a:t>
            </a:r>
            <a:endParaRPr lang="en-US" sz="1300" dirty="0"/>
          </a:p>
        </p:txBody>
      </p:sp>
      <p:sp>
        <p:nvSpPr>
          <p:cNvPr id="163" name="Text 161"/>
          <p:cNvSpPr/>
          <p:nvPr/>
        </p:nvSpPr>
        <p:spPr>
          <a:xfrm>
            <a:off x="45720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Corredor, PhD  ·  Grupo 16  ·  Pontificia Universidad Javeriana  ·  2026</a:t>
            </a:r>
            <a:endParaRPr lang="en-US" sz="1200" dirty="0"/>
          </a:p>
        </p:txBody>
      </p:sp>
      <p:sp>
        <p:nvSpPr>
          <p:cNvPr id="164" name="Shape 162"/>
          <p:cNvSpPr/>
          <p:nvPr/>
        </p:nvSpPr>
        <p:spPr>
          <a:xfrm>
            <a:off x="6583680" y="365760"/>
            <a:ext cx="2194560" cy="420624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6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594360"/>
            <a:ext cx="502920" cy="502920"/>
          </a:xfrm>
          <a:prstGeom prst="rect">
            <a:avLst/>
          </a:prstGeom>
        </p:spPr>
      </p:pic>
      <p:sp>
        <p:nvSpPr>
          <p:cNvPr id="166" name="Text 163"/>
          <p:cNvSpPr/>
          <p:nvPr/>
        </p:nvSpPr>
        <p:spPr>
          <a:xfrm>
            <a:off x="7452360" y="640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FUENTES DE DATOS</a:t>
            </a:r>
            <a:endParaRPr lang="en-US" sz="900" dirty="0"/>
          </a:p>
        </p:txBody>
      </p:sp>
      <p:pic>
        <p:nvPicPr>
          <p:cNvPr id="16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25880"/>
            <a:ext cx="502920" cy="502920"/>
          </a:xfrm>
          <a:prstGeom prst="rect">
            <a:avLst/>
          </a:prstGeom>
        </p:spPr>
      </p:pic>
      <p:sp>
        <p:nvSpPr>
          <p:cNvPr id="168" name="Text 164"/>
          <p:cNvSpPr/>
          <p:nvPr/>
        </p:nvSpPr>
        <p:spPr>
          <a:xfrm>
            <a:off x="745236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ICFES · INTERNET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 · RIESGO</a:t>
            </a:r>
            <a:endParaRPr lang="en-US" sz="900" dirty="0"/>
          </a:p>
        </p:txBody>
      </p:sp>
      <p:pic>
        <p:nvPicPr>
          <p:cNvPr id="16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057400"/>
            <a:ext cx="502920" cy="502920"/>
          </a:xfrm>
          <a:prstGeom prst="rect">
            <a:avLst/>
          </a:prstGeom>
        </p:spPr>
      </p:pic>
      <p:sp>
        <p:nvSpPr>
          <p:cNvPr id="170" name="Text 165"/>
          <p:cNvSpPr/>
          <p:nvPr/>
        </p:nvSpPr>
        <p:spPr>
          <a:xfrm>
            <a:off x="7452360" y="2103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KMEANS</a:t>
            </a:r>
            <a:endParaRPr lang="en-US" sz="900" dirty="0"/>
          </a:p>
        </p:txBody>
      </p:sp>
      <p:pic>
        <p:nvPicPr>
          <p:cNvPr id="17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788920"/>
            <a:ext cx="502920" cy="502920"/>
          </a:xfrm>
          <a:prstGeom prst="rect">
            <a:avLst/>
          </a:prstGeom>
        </p:spPr>
      </p:pic>
      <p:sp>
        <p:nvSpPr>
          <p:cNvPr id="172" name="Text 166"/>
          <p:cNvSpPr/>
          <p:nvPr/>
        </p:nvSpPr>
        <p:spPr>
          <a:xfrm>
            <a:off x="745236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PREGUNTAS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NEGOCIO</a:t>
            </a:r>
            <a:endParaRPr lang="en-US" sz="900" dirty="0"/>
          </a:p>
        </p:txBody>
      </p:sp>
      <p:pic>
        <p:nvPicPr>
          <p:cNvPr id="17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3520440"/>
            <a:ext cx="502920" cy="502920"/>
          </a:xfrm>
          <a:prstGeom prst="rect">
            <a:avLst/>
          </a:prstGeom>
        </p:spPr>
      </p:pic>
      <p:sp>
        <p:nvSpPr>
          <p:cNvPr id="174" name="Text 167"/>
          <p:cNvSpPr/>
          <p:nvPr/>
        </p:nvSpPr>
        <p:spPr>
          <a:xfrm>
            <a:off x="7452360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</a:t>
            </a:r>
            <a:endParaRPr lang="en-US" sz="900" dirty="0"/>
          </a:p>
        </p:txBody>
      </p:sp>
      <p:sp>
        <p:nvSpPr>
          <p:cNvPr id="175" name="Shape 16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6" name="Text 169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B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CRISP-DM  ·  APACHE SPARK  ·  MLLIB  ·  BUENAVENTURA · QUIBDÓ · RIOHACHA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525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120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07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525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716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688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75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61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634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120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066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29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202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75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661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148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093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580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552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039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525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29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9202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175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661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066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0525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229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716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202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688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175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661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148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634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120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607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093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580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066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552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039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525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0" y="539496"/>
            <a:ext cx="9144000" cy="18288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4320" y="73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 Y METODOLOGÍA</a:t>
            </a:r>
            <a:endParaRPr lang="en-US" sz="1800" dirty="0"/>
          </a:p>
        </p:txBody>
      </p:sp>
      <p:sp>
        <p:nvSpPr>
          <p:cNvPr id="159" name="Shape 157"/>
          <p:cNvSpPr/>
          <p:nvPr/>
        </p:nvSpPr>
        <p:spPr>
          <a:xfrm>
            <a:off x="228600" y="685800"/>
            <a:ext cx="4023360" cy="411480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28600" y="685800"/>
            <a:ext cx="4023360" cy="347472"/>
          </a:xfrm>
          <a:prstGeom prst="rect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7B2FFF">
                <a:alpha val="70000"/>
              </a:srgbClr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20040" y="713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 DE NEGOCIO</a:t>
            </a:r>
            <a:endParaRPr lang="en-US" sz="1100" dirty="0"/>
          </a:p>
        </p:txBody>
      </p:sp>
      <p:pic>
        <p:nvPicPr>
          <p:cNvPr id="1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0432"/>
            <a:ext cx="457200" cy="457200"/>
          </a:xfrm>
          <a:prstGeom prst="rect">
            <a:avLst/>
          </a:prstGeom>
        </p:spPr>
      </p:pic>
      <p:sp>
        <p:nvSpPr>
          <p:cNvPr id="163" name="Text 160"/>
          <p:cNvSpPr/>
          <p:nvPr/>
        </p:nvSpPr>
        <p:spPr>
          <a:xfrm>
            <a:off x="960120" y="11887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 al Ministerio de Educación con evidencia analítica para mejorar indicadores educativos territoriales.</a:t>
            </a:r>
            <a:endParaRPr lang="en-US" sz="1100" dirty="0"/>
          </a:p>
        </p:txBody>
      </p:sp>
      <p:pic>
        <p:nvPicPr>
          <p:cNvPr id="16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0"/>
            <a:ext cx="347472" cy="347472"/>
          </a:xfrm>
          <a:prstGeom prst="rect">
            <a:avLst/>
          </a:prstGeom>
        </p:spPr>
      </p:pic>
      <p:sp>
        <p:nvSpPr>
          <p:cNvPr id="165" name="Text 161"/>
          <p:cNvSpPr/>
          <p:nvPr/>
        </p:nvSpPr>
        <p:spPr>
          <a:xfrm>
            <a:off x="804672" y="20299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municipios con brechas de conectividad y rendimiento</a:t>
            </a:r>
            <a:endParaRPr lang="en-US" sz="1050" dirty="0"/>
          </a:p>
        </p:txBody>
      </p:sp>
      <p:pic>
        <p:nvPicPr>
          <p:cNvPr id="16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633472"/>
            <a:ext cx="347472" cy="347472"/>
          </a:xfrm>
          <a:prstGeom prst="rect">
            <a:avLst/>
          </a:prstGeom>
        </p:spPr>
      </p:pic>
      <p:sp>
        <p:nvSpPr>
          <p:cNvPr id="167" name="Text 162"/>
          <p:cNvSpPr/>
          <p:nvPr/>
        </p:nvSpPr>
        <p:spPr>
          <a:xfrm>
            <a:off x="804672" y="2651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relación entre internet en hogar y puntajes ICFES</a:t>
            </a:r>
            <a:endParaRPr lang="en-US" sz="1050" dirty="0"/>
          </a:p>
        </p:txBody>
      </p:sp>
      <p:pic>
        <p:nvPicPr>
          <p:cNvPr id="16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55264"/>
            <a:ext cx="347472" cy="347472"/>
          </a:xfrm>
          <a:prstGeom prst="rect">
            <a:avLst/>
          </a:prstGeom>
        </p:spPr>
      </p:pic>
      <p:sp>
        <p:nvSpPr>
          <p:cNvPr id="169" name="Text 163"/>
          <p:cNvSpPr/>
          <p:nvPr/>
        </p:nvSpPr>
        <p:spPr>
          <a:xfrm>
            <a:off x="804672" y="32735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estrato, computador, presupuesto y riesgo ambiental</a:t>
            </a:r>
            <a:endParaRPr lang="en-US" sz="1050" dirty="0"/>
          </a:p>
        </p:txBody>
      </p:sp>
      <p:pic>
        <p:nvPicPr>
          <p:cNvPr id="17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877056"/>
            <a:ext cx="347472" cy="347472"/>
          </a:xfrm>
          <a:prstGeom prst="rect">
            <a:avLst/>
          </a:prstGeom>
        </p:spPr>
      </p:pic>
      <p:sp>
        <p:nvSpPr>
          <p:cNvPr id="171" name="Text 164"/>
          <p:cNvSpPr/>
          <p:nvPr/>
        </p:nvSpPr>
        <p:spPr>
          <a:xfrm>
            <a:off x="804672" y="38953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ML para predecir rendimiento y segmentar perfiles</a:t>
            </a:r>
            <a:endParaRPr lang="en-US" sz="1050" dirty="0"/>
          </a:p>
        </p:txBody>
      </p:sp>
      <p:sp>
        <p:nvSpPr>
          <p:cNvPr id="172" name="Shape 165"/>
          <p:cNvSpPr/>
          <p:nvPr/>
        </p:nvSpPr>
        <p:spPr>
          <a:xfrm>
            <a:off x="4434840" y="685800"/>
            <a:ext cx="4480560" cy="411480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3" name="Shape 166"/>
          <p:cNvSpPr/>
          <p:nvPr/>
        </p:nvSpPr>
        <p:spPr>
          <a:xfrm>
            <a:off x="4434840" y="685800"/>
            <a:ext cx="4480560" cy="347472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74" name="Text 167"/>
          <p:cNvSpPr/>
          <p:nvPr/>
        </p:nvSpPr>
        <p:spPr>
          <a:xfrm>
            <a:off x="4526280" y="7132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METODOLOGÍA CRISP-DM</a:t>
            </a:r>
            <a:endParaRPr lang="en-US" sz="1100" dirty="0"/>
          </a:p>
        </p:txBody>
      </p:sp>
      <p:sp>
        <p:nvSpPr>
          <p:cNvPr id="175" name="Shape 168"/>
          <p:cNvSpPr/>
          <p:nvPr/>
        </p:nvSpPr>
        <p:spPr>
          <a:xfrm>
            <a:off x="4526280" y="1170432"/>
            <a:ext cx="54864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6" name="Text 169"/>
          <p:cNvSpPr/>
          <p:nvPr/>
        </p:nvSpPr>
        <p:spPr>
          <a:xfrm>
            <a:off x="4681728" y="11704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Entendimiento del negocio</a:t>
            </a:r>
            <a:endParaRPr lang="en-US" sz="1000" dirty="0"/>
          </a:p>
        </p:txBody>
      </p:sp>
      <p:sp>
        <p:nvSpPr>
          <p:cNvPr id="177" name="Text 170"/>
          <p:cNvSpPr/>
          <p:nvPr/>
        </p:nvSpPr>
        <p:spPr>
          <a:xfrm>
            <a:off x="4681728" y="135331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MEN + preguntas de negocio</a:t>
            </a:r>
            <a:endParaRPr lang="en-US" sz="900" dirty="0"/>
          </a:p>
        </p:txBody>
      </p:sp>
      <p:sp>
        <p:nvSpPr>
          <p:cNvPr id="178" name="Shape 171"/>
          <p:cNvSpPr/>
          <p:nvPr/>
        </p:nvSpPr>
        <p:spPr>
          <a:xfrm>
            <a:off x="4526280" y="1764792"/>
            <a:ext cx="54864" cy="34747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9" name="Text 172"/>
          <p:cNvSpPr/>
          <p:nvPr/>
        </p:nvSpPr>
        <p:spPr>
          <a:xfrm>
            <a:off x="4681728" y="17647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Entendimiento de datos</a:t>
            </a:r>
            <a:endParaRPr lang="en-US" sz="1000" dirty="0"/>
          </a:p>
        </p:txBody>
      </p:sp>
      <p:sp>
        <p:nvSpPr>
          <p:cNvPr id="180" name="Text 173"/>
          <p:cNvSpPr/>
          <p:nvPr/>
        </p:nvSpPr>
        <p:spPr>
          <a:xfrm>
            <a:off x="4681728" y="1947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ICFES, internet, SGP, riesgo, bibliotecas</a:t>
            </a:r>
            <a:endParaRPr lang="en-US" sz="900" dirty="0"/>
          </a:p>
        </p:txBody>
      </p:sp>
      <p:sp>
        <p:nvSpPr>
          <p:cNvPr id="181" name="Shape 174"/>
          <p:cNvSpPr/>
          <p:nvPr/>
        </p:nvSpPr>
        <p:spPr>
          <a:xfrm>
            <a:off x="4526280" y="2359152"/>
            <a:ext cx="54864" cy="34747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82" name="Text 175"/>
          <p:cNvSpPr/>
          <p:nvPr/>
        </p:nvSpPr>
        <p:spPr>
          <a:xfrm>
            <a:off x="4681728" y="23591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datos</a:t>
            </a:r>
            <a:endParaRPr lang="en-US" sz="1000" dirty="0"/>
          </a:p>
        </p:txBody>
      </p:sp>
      <p:sp>
        <p:nvSpPr>
          <p:cNvPr id="183" name="Text 176"/>
          <p:cNvSpPr/>
          <p:nvPr/>
        </p:nvSpPr>
        <p:spPr>
          <a:xfrm>
            <a:off x="4681728" y="25420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filtros, imputación, transformación</a:t>
            </a:r>
            <a:endParaRPr lang="en-US" sz="900" dirty="0"/>
          </a:p>
        </p:txBody>
      </p:sp>
      <p:sp>
        <p:nvSpPr>
          <p:cNvPr id="184" name="Shape 177"/>
          <p:cNvSpPr/>
          <p:nvPr/>
        </p:nvSpPr>
        <p:spPr>
          <a:xfrm>
            <a:off x="4526280" y="2953512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5" name="Text 178"/>
          <p:cNvSpPr/>
          <p:nvPr/>
        </p:nvSpPr>
        <p:spPr>
          <a:xfrm>
            <a:off x="4681728" y="29535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000" dirty="0"/>
          </a:p>
        </p:txBody>
      </p:sp>
      <p:sp>
        <p:nvSpPr>
          <p:cNvPr id="186" name="Text 179"/>
          <p:cNvSpPr/>
          <p:nvPr/>
        </p:nvSpPr>
        <p:spPr>
          <a:xfrm>
            <a:off x="4681728" y="31363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+ K-Means MLlib</a:t>
            </a:r>
            <a:endParaRPr lang="en-US" sz="900" dirty="0"/>
          </a:p>
        </p:txBody>
      </p:sp>
      <p:sp>
        <p:nvSpPr>
          <p:cNvPr id="187" name="Shape 180"/>
          <p:cNvSpPr/>
          <p:nvPr/>
        </p:nvSpPr>
        <p:spPr>
          <a:xfrm>
            <a:off x="4526280" y="3547872"/>
            <a:ext cx="54864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8" name="Text 181"/>
          <p:cNvSpPr/>
          <p:nvPr/>
        </p:nvSpPr>
        <p:spPr>
          <a:xfrm>
            <a:off x="4681728" y="35478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000" dirty="0"/>
          </a:p>
        </p:txBody>
      </p:sp>
      <p:sp>
        <p:nvSpPr>
          <p:cNvPr id="189" name="Text 182"/>
          <p:cNvSpPr/>
          <p:nvPr/>
        </p:nvSpPr>
        <p:spPr>
          <a:xfrm>
            <a:off x="4681728" y="37307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MAE, R², Silhouette, parámetros</a:t>
            </a:r>
            <a:endParaRPr lang="en-US" sz="900" dirty="0"/>
          </a:p>
        </p:txBody>
      </p:sp>
      <p:sp>
        <p:nvSpPr>
          <p:cNvPr id="190" name="Shape 183"/>
          <p:cNvSpPr/>
          <p:nvPr/>
        </p:nvSpPr>
        <p:spPr>
          <a:xfrm>
            <a:off x="4526280" y="4142232"/>
            <a:ext cx="54864" cy="34747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1" name="Text 184"/>
          <p:cNvSpPr/>
          <p:nvPr/>
        </p:nvSpPr>
        <p:spPr>
          <a:xfrm>
            <a:off x="4681728" y="41422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000" dirty="0"/>
          </a:p>
        </p:txBody>
      </p:sp>
      <p:sp>
        <p:nvSpPr>
          <p:cNvPr id="192" name="Text 185"/>
          <p:cNvSpPr/>
          <p:nvPr/>
        </p:nvSpPr>
        <p:spPr>
          <a:xfrm>
            <a:off x="4681728" y="432511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Análisis, conclusiones y recomendaciones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525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120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07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525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716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688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75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61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634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120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066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29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202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75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661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148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093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580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552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039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525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29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9202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175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661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066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0525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229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716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202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688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175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661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148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634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120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607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093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580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066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552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039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525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0" y="539496"/>
            <a:ext cx="9144000" cy="18288"/>
          </a:xfrm>
          <a:prstGeom prst="rect">
            <a:avLst/>
          </a:prstGeom>
          <a:solidFill>
            <a:srgbClr val="7B2FFF">
              <a:alpha val="40000"/>
            </a:srgbClr>
          </a:solidFill>
          <a:ln w="12700">
            <a:solidFill>
              <a:srgbClr val="7B2FFF">
                <a:alpha val="4000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4320" y="73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FUENTES DE DATOS</a:t>
            </a:r>
            <a:endParaRPr lang="en-US" sz="1800" dirty="0"/>
          </a:p>
        </p:txBody>
      </p:sp>
      <p:sp>
        <p:nvSpPr>
          <p:cNvPr id="159" name="Shape 157"/>
          <p:cNvSpPr/>
          <p:nvPr/>
        </p:nvSpPr>
        <p:spPr>
          <a:xfrm>
            <a:off x="182880" y="640080"/>
            <a:ext cx="2743200" cy="17830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82880" y="64008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6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347472" cy="347472"/>
          </a:xfrm>
          <a:prstGeom prst="rect">
            <a:avLst/>
          </a:prstGeom>
        </p:spPr>
      </p:pic>
      <p:sp>
        <p:nvSpPr>
          <p:cNvPr id="162" name="Text 159"/>
          <p:cNvSpPr/>
          <p:nvPr/>
        </p:nvSpPr>
        <p:spPr>
          <a:xfrm>
            <a:off x="713232" y="804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ICFES SABER 11</a:t>
            </a:r>
            <a:endParaRPr lang="en-US" sz="950" dirty="0"/>
          </a:p>
        </p:txBody>
      </p:sp>
      <p:sp>
        <p:nvSpPr>
          <p:cNvPr id="163" name="Text 160"/>
          <p:cNvSpPr/>
          <p:nvPr/>
        </p:nvSpPr>
        <p:spPr>
          <a:xfrm>
            <a:off x="27432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Puntajes por módulo, municipio, estrato, internet, computador, origen inst.</a:t>
            </a:r>
            <a:endParaRPr lang="en-US" sz="900" dirty="0"/>
          </a:p>
        </p:txBody>
      </p:sp>
      <p:sp>
        <p:nvSpPr>
          <p:cNvPr id="164" name="Text 161"/>
          <p:cNvSpPr/>
          <p:nvPr/>
        </p:nvSpPr>
        <p:spPr>
          <a:xfrm>
            <a:off x="27432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objetivo: rendimiento académico</a:t>
            </a:r>
            <a:endParaRPr lang="en-US" sz="850" dirty="0"/>
          </a:p>
        </p:txBody>
      </p:sp>
      <p:sp>
        <p:nvSpPr>
          <p:cNvPr id="165" name="Shape 162"/>
          <p:cNvSpPr/>
          <p:nvPr/>
        </p:nvSpPr>
        <p:spPr>
          <a:xfrm>
            <a:off x="3154680" y="640080"/>
            <a:ext cx="2743200" cy="17830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3154680" y="640080"/>
            <a:ext cx="27432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16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804672"/>
            <a:ext cx="347472" cy="347472"/>
          </a:xfrm>
          <a:prstGeom prst="rect">
            <a:avLst/>
          </a:prstGeom>
        </p:spPr>
      </p:pic>
      <p:sp>
        <p:nvSpPr>
          <p:cNvPr id="168" name="Text 164"/>
          <p:cNvSpPr/>
          <p:nvPr/>
        </p:nvSpPr>
        <p:spPr>
          <a:xfrm>
            <a:off x="3685032" y="804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 POR MUNICIPIO</a:t>
            </a:r>
            <a:endParaRPr lang="en-US" sz="950" dirty="0"/>
          </a:p>
        </p:txBody>
      </p:sp>
      <p:sp>
        <p:nvSpPr>
          <p:cNvPr id="169" name="Text 165"/>
          <p:cNvSpPr/>
          <p:nvPr/>
        </p:nvSpPr>
        <p:spPr>
          <a:xfrm>
            <a:off x="324612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Municipio, año, tecnología, número de accesos</a:t>
            </a:r>
            <a:endParaRPr lang="en-US" sz="900" dirty="0"/>
          </a:p>
        </p:txBody>
      </p:sp>
      <p:sp>
        <p:nvSpPr>
          <p:cNvPr id="170" name="Text 166"/>
          <p:cNvSpPr/>
          <p:nvPr/>
        </p:nvSpPr>
        <p:spPr>
          <a:xfrm>
            <a:off x="324612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territorial comparativa</a:t>
            </a:r>
            <a:endParaRPr lang="en-US" sz="850" dirty="0"/>
          </a:p>
        </p:txBody>
      </p:sp>
      <p:sp>
        <p:nvSpPr>
          <p:cNvPr id="171" name="Shape 167"/>
          <p:cNvSpPr/>
          <p:nvPr/>
        </p:nvSpPr>
        <p:spPr>
          <a:xfrm>
            <a:off x="6126480" y="640080"/>
            <a:ext cx="2743200" cy="17830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2" name="Shape 168"/>
          <p:cNvSpPr/>
          <p:nvPr/>
        </p:nvSpPr>
        <p:spPr>
          <a:xfrm>
            <a:off x="6126480" y="640080"/>
            <a:ext cx="274320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pic>
        <p:nvPicPr>
          <p:cNvPr id="17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04672"/>
            <a:ext cx="347472" cy="347472"/>
          </a:xfrm>
          <a:prstGeom prst="rect">
            <a:avLst/>
          </a:prstGeom>
        </p:spPr>
      </p:pic>
      <p:sp>
        <p:nvSpPr>
          <p:cNvPr id="174" name="Text 169"/>
          <p:cNvSpPr/>
          <p:nvPr/>
        </p:nvSpPr>
        <p:spPr>
          <a:xfrm>
            <a:off x="6656832" y="804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SGP EDUCACIÓN</a:t>
            </a:r>
            <a:endParaRPr lang="en-US" sz="950" dirty="0"/>
          </a:p>
        </p:txBody>
      </p:sp>
      <p:sp>
        <p:nvSpPr>
          <p:cNvPr id="175" name="Text 170"/>
          <p:cNvSpPr/>
          <p:nvPr/>
        </p:nvSpPr>
        <p:spPr>
          <a:xfrm>
            <a:off x="621792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Año, prestación de servicios, calidad, gratuidad, matrícula</a:t>
            </a:r>
            <a:endParaRPr lang="en-US" sz="900" dirty="0"/>
          </a:p>
        </p:txBody>
      </p:sp>
      <p:sp>
        <p:nvSpPr>
          <p:cNvPr id="176" name="Text 171"/>
          <p:cNvSpPr/>
          <p:nvPr/>
        </p:nvSpPr>
        <p:spPr>
          <a:xfrm>
            <a:off x="621792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pública educativa por municipio</a:t>
            </a:r>
            <a:endParaRPr lang="en-US" sz="850" dirty="0"/>
          </a:p>
        </p:txBody>
      </p:sp>
      <p:sp>
        <p:nvSpPr>
          <p:cNvPr id="177" name="Shape 172"/>
          <p:cNvSpPr/>
          <p:nvPr/>
        </p:nvSpPr>
        <p:spPr>
          <a:xfrm>
            <a:off x="182880" y="2606040"/>
            <a:ext cx="2743200" cy="17830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182880" y="260604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7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770632"/>
            <a:ext cx="347472" cy="347472"/>
          </a:xfrm>
          <a:prstGeom prst="rect">
            <a:avLst/>
          </a:prstGeom>
        </p:spPr>
      </p:pic>
      <p:sp>
        <p:nvSpPr>
          <p:cNvPr id="180" name="Text 174"/>
          <p:cNvSpPr/>
          <p:nvPr/>
        </p:nvSpPr>
        <p:spPr>
          <a:xfrm>
            <a:off x="713232" y="2770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ÍNDICE MUNICIPAL DE RIESGO</a:t>
            </a:r>
            <a:endParaRPr lang="en-US" sz="950" dirty="0"/>
          </a:p>
        </p:txBody>
      </p:sp>
      <p:sp>
        <p:nvSpPr>
          <p:cNvPr id="181" name="Text 175"/>
          <p:cNvSpPr/>
          <p:nvPr/>
        </p:nvSpPr>
        <p:spPr>
          <a:xfrm>
            <a:off x="274320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sequía extrema, variables de riesgo territorial</a:t>
            </a:r>
            <a:endParaRPr lang="en-US" sz="900" dirty="0"/>
          </a:p>
        </p:txBody>
      </p:sp>
      <p:sp>
        <p:nvSpPr>
          <p:cNvPr id="182" name="Text 176"/>
          <p:cNvSpPr/>
          <p:nvPr/>
        </p:nvSpPr>
        <p:spPr>
          <a:xfrm>
            <a:off x="274320" y="3959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ambiental en el aprendizaje</a:t>
            </a:r>
            <a:endParaRPr lang="en-US" sz="850" dirty="0"/>
          </a:p>
        </p:txBody>
      </p:sp>
      <p:sp>
        <p:nvSpPr>
          <p:cNvPr id="183" name="Shape 177"/>
          <p:cNvSpPr/>
          <p:nvPr/>
        </p:nvSpPr>
        <p:spPr>
          <a:xfrm>
            <a:off x="3154680" y="2606040"/>
            <a:ext cx="2743200" cy="17830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3154680" y="260604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8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770632"/>
            <a:ext cx="347472" cy="347472"/>
          </a:xfrm>
          <a:prstGeom prst="rect">
            <a:avLst/>
          </a:prstGeom>
        </p:spPr>
      </p:pic>
      <p:sp>
        <p:nvSpPr>
          <p:cNvPr id="186" name="Text 179"/>
          <p:cNvSpPr/>
          <p:nvPr/>
        </p:nvSpPr>
        <p:spPr>
          <a:xfrm>
            <a:off x="3685032" y="2770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BIBLIOTECAS PÚBLICAS</a:t>
            </a:r>
            <a:endParaRPr lang="en-US" sz="950" dirty="0"/>
          </a:p>
        </p:txBody>
      </p:sp>
      <p:sp>
        <p:nvSpPr>
          <p:cNvPr id="187" name="Text 180"/>
          <p:cNvSpPr/>
          <p:nvPr/>
        </p:nvSpPr>
        <p:spPr>
          <a:xfrm>
            <a:off x="3246120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Municipio, nombre, ubicación</a:t>
            </a:r>
            <a:endParaRPr lang="en-US" sz="900" dirty="0"/>
          </a:p>
        </p:txBody>
      </p:sp>
      <p:sp>
        <p:nvSpPr>
          <p:cNvPr id="188" name="Text 181"/>
          <p:cNvSpPr/>
          <p:nvPr/>
        </p:nvSpPr>
        <p:spPr>
          <a:xfrm>
            <a:off x="3246120" y="3959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física de acceso a info</a:t>
            </a:r>
            <a:endParaRPr lang="en-US" sz="850" dirty="0"/>
          </a:p>
        </p:txBody>
      </p:sp>
      <p:sp>
        <p:nvSpPr>
          <p:cNvPr id="189" name="Shape 182"/>
          <p:cNvSpPr/>
          <p:nvPr/>
        </p:nvSpPr>
        <p:spPr>
          <a:xfrm>
            <a:off x="6126480" y="2606040"/>
            <a:ext cx="2743200" cy="17830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0" name="Shape 183"/>
          <p:cNvSpPr/>
          <p:nvPr/>
        </p:nvSpPr>
        <p:spPr>
          <a:xfrm>
            <a:off x="6126480" y="2606040"/>
            <a:ext cx="27432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19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770632"/>
            <a:ext cx="347472" cy="347472"/>
          </a:xfrm>
          <a:prstGeom prst="rect">
            <a:avLst/>
          </a:prstGeom>
        </p:spPr>
      </p:pic>
      <p:sp>
        <p:nvSpPr>
          <p:cNvPr id="192" name="Text 184"/>
          <p:cNvSpPr/>
          <p:nvPr/>
        </p:nvSpPr>
        <p:spPr>
          <a:xfrm>
            <a:off x="6656832" y="2770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EDUCACIÓN SUPERIOR</a:t>
            </a:r>
            <a:endParaRPr lang="en-US" sz="950" dirty="0"/>
          </a:p>
        </p:txBody>
      </p:sp>
      <p:sp>
        <p:nvSpPr>
          <p:cNvPr id="193" name="Text 185"/>
          <p:cNvSpPr/>
          <p:nvPr/>
        </p:nvSpPr>
        <p:spPr>
          <a:xfrm>
            <a:off x="6217920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Municipio, matrícula universitaria</a:t>
            </a:r>
            <a:endParaRPr lang="en-US" sz="900" dirty="0"/>
          </a:p>
        </p:txBody>
      </p:sp>
      <p:sp>
        <p:nvSpPr>
          <p:cNvPr id="194" name="Text 186"/>
          <p:cNvSpPr/>
          <p:nvPr/>
        </p:nvSpPr>
        <p:spPr>
          <a:xfrm>
            <a:off x="6217920" y="3959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educativo local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525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120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07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525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716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688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75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61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634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120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066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29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202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75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661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148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093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580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552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039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525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29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9202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175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661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066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0525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229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716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202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688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175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661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148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634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120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607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093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580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066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552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039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525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0" y="539496"/>
            <a:ext cx="9144000" cy="18288"/>
          </a:xfrm>
          <a:prstGeom prst="rect">
            <a:avLst/>
          </a:prstGeom>
          <a:solidFill>
            <a:srgbClr val="00FF94">
              <a:alpha val="40000"/>
            </a:srgbClr>
          </a:solidFill>
          <a:ln w="12700">
            <a:solidFill>
              <a:srgbClr val="00FF94">
                <a:alpha val="4000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4320" y="73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FILTROS Y TRANSFORMACIONES FINALES</a:t>
            </a:r>
            <a:endParaRPr lang="en-US" sz="1800" dirty="0"/>
          </a:p>
        </p:txBody>
      </p:sp>
      <p:sp>
        <p:nvSpPr>
          <p:cNvPr id="159" name="Shape 157"/>
          <p:cNvSpPr/>
          <p:nvPr/>
        </p:nvSpPr>
        <p:spPr>
          <a:xfrm>
            <a:off x="182880" y="621792"/>
            <a:ext cx="4297680" cy="12801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82880" y="621792"/>
            <a:ext cx="347472" cy="128016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219456" y="667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endParaRPr lang="en-US" sz="1200" dirty="0"/>
          </a:p>
        </p:txBody>
      </p:sp>
      <p:pic>
        <p:nvPicPr>
          <p:cNvPr id="1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33272"/>
            <a:ext cx="256032" cy="256032"/>
          </a:xfrm>
          <a:prstGeom prst="rect">
            <a:avLst/>
          </a:prstGeom>
        </p:spPr>
      </p:pic>
      <p:sp>
        <p:nvSpPr>
          <p:cNvPr id="163" name="Text 160"/>
          <p:cNvSpPr/>
          <p:nvPr/>
        </p:nvSpPr>
        <p:spPr>
          <a:xfrm>
            <a:off x="640080" y="667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Validación de puntajes críticos</a:t>
            </a:r>
            <a:endParaRPr lang="en-US" sz="1100" dirty="0"/>
          </a:p>
        </p:txBody>
      </p:sp>
      <p:sp>
        <p:nvSpPr>
          <p:cNvPr id="164" name="Shape 161"/>
          <p:cNvSpPr/>
          <p:nvPr/>
        </p:nvSpPr>
        <p:spPr>
          <a:xfrm>
            <a:off x="640080" y="969264"/>
            <a:ext cx="3749040" cy="274320"/>
          </a:xfrm>
          <a:prstGeom prst="rect">
            <a:avLst/>
          </a:prstGeom>
          <a:solidFill>
            <a:srgbClr val="050B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685800" y="987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icfes_df.filter(col("MOD_LECTURA_CRITICA_PUNT").isNotNull())</a:t>
            </a:r>
            <a:endParaRPr lang="en-US" sz="850" dirty="0"/>
          </a:p>
        </p:txBody>
      </p:sp>
      <p:sp>
        <p:nvSpPr>
          <p:cNvPr id="166" name="Text 163"/>
          <p:cNvSpPr/>
          <p:nvPr/>
        </p:nvSpPr>
        <p:spPr>
          <a:xfrm>
            <a:off x="640080" y="13075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registros con Lectura Crítica y Razonamiento Cuantitativo válidos. Garantiza consistencia académica.</a:t>
            </a:r>
            <a:endParaRPr lang="en-US" sz="950" dirty="0"/>
          </a:p>
        </p:txBody>
      </p:sp>
      <p:sp>
        <p:nvSpPr>
          <p:cNvPr id="167" name="Shape 164"/>
          <p:cNvSpPr/>
          <p:nvPr/>
        </p:nvSpPr>
        <p:spPr>
          <a:xfrm>
            <a:off x="4709160" y="621792"/>
            <a:ext cx="4297680" cy="12801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4709160" y="621792"/>
            <a:ext cx="347472" cy="128016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4745736" y="667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</a:t>
            </a:r>
            <a:endParaRPr lang="en-US" sz="1200" dirty="0"/>
          </a:p>
        </p:txBody>
      </p:sp>
      <p:pic>
        <p:nvPicPr>
          <p:cNvPr id="17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33272"/>
            <a:ext cx="256032" cy="256032"/>
          </a:xfrm>
          <a:prstGeom prst="rect">
            <a:avLst/>
          </a:prstGeom>
        </p:spPr>
      </p:pic>
      <p:sp>
        <p:nvSpPr>
          <p:cNvPr id="171" name="Text 167"/>
          <p:cNvSpPr/>
          <p:nvPr/>
        </p:nvSpPr>
        <p:spPr>
          <a:xfrm>
            <a:off x="5166360" y="667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Eliminación de columnas redundantes</a:t>
            </a:r>
            <a:endParaRPr lang="en-US" sz="1100" dirty="0"/>
          </a:p>
        </p:txBody>
      </p:sp>
      <p:sp>
        <p:nvSpPr>
          <p:cNvPr id="172" name="Shape 168"/>
          <p:cNvSpPr/>
          <p:nvPr/>
        </p:nvSpPr>
        <p:spPr>
          <a:xfrm>
            <a:off x="5166360" y="969264"/>
            <a:ext cx="3749040" cy="274320"/>
          </a:xfrm>
          <a:prstGeom prst="rect">
            <a:avLst/>
          </a:prstGeom>
          <a:solidFill>
            <a:srgbClr val="050B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3" name="Text 169"/>
          <p:cNvSpPr/>
          <p:nvPr/>
        </p:nvSpPr>
        <p:spPr>
          <a:xfrm>
            <a:off x="5212080" y="987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sgp_df.drop("Unnamed: 5", "Unnamed: 6")</a:t>
            </a:r>
            <a:endParaRPr lang="en-US" sz="850" dirty="0"/>
          </a:p>
        </p:txBody>
      </p:sp>
      <p:sp>
        <p:nvSpPr>
          <p:cNvPr id="174" name="Text 170"/>
          <p:cNvSpPr/>
          <p:nvPr/>
        </p:nvSpPr>
        <p:spPr>
          <a:xfrm>
            <a:off x="5166360" y="13075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columnas sin valor analítico del SGP e ICFES. Reduce ruido y mejora legibilidad.</a:t>
            </a:r>
            <a:endParaRPr lang="en-US" sz="950" dirty="0"/>
          </a:p>
        </p:txBody>
      </p:sp>
      <p:sp>
        <p:nvSpPr>
          <p:cNvPr id="175" name="Shape 171"/>
          <p:cNvSpPr/>
          <p:nvPr/>
        </p:nvSpPr>
        <p:spPr>
          <a:xfrm>
            <a:off x="182880" y="2084832"/>
            <a:ext cx="4297680" cy="12801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6" name="Shape 172"/>
          <p:cNvSpPr/>
          <p:nvPr/>
        </p:nvSpPr>
        <p:spPr>
          <a:xfrm>
            <a:off x="182880" y="2084832"/>
            <a:ext cx="347472" cy="1280160"/>
          </a:xfrm>
          <a:prstGeom prst="rect">
            <a:avLst/>
          </a:prstGeom>
          <a:solidFill>
            <a:srgbClr val="7B2FFF">
              <a:alpha val="8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7" name="Text 173"/>
          <p:cNvSpPr/>
          <p:nvPr/>
        </p:nvSpPr>
        <p:spPr>
          <a:xfrm>
            <a:off x="219456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200" dirty="0"/>
          </a:p>
        </p:txBody>
      </p:sp>
      <p:pic>
        <p:nvPicPr>
          <p:cNvPr id="17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496312"/>
            <a:ext cx="256032" cy="256032"/>
          </a:xfrm>
          <a:prstGeom prst="rect">
            <a:avLst/>
          </a:prstGeom>
        </p:spPr>
      </p:pic>
      <p:sp>
        <p:nvSpPr>
          <p:cNvPr id="179" name="Text 174"/>
          <p:cNvSpPr/>
          <p:nvPr/>
        </p:nvSpPr>
        <p:spPr>
          <a:xfrm>
            <a:off x="640080" y="2130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Tratamiento de valores faltantes</a:t>
            </a:r>
            <a:endParaRPr lang="en-US" sz="1100" dirty="0"/>
          </a:p>
        </p:txBody>
      </p:sp>
      <p:sp>
        <p:nvSpPr>
          <p:cNvPr id="180" name="Shape 175"/>
          <p:cNvSpPr/>
          <p:nvPr/>
        </p:nvSpPr>
        <p:spPr>
          <a:xfrm>
            <a:off x="640080" y="2432304"/>
            <a:ext cx="3749040" cy="274320"/>
          </a:xfrm>
          <a:prstGeom prst="rect">
            <a:avLst/>
          </a:prstGeom>
          <a:solidFill>
            <a:srgbClr val="050B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1" name="Text 176"/>
          <p:cNvSpPr/>
          <p:nvPr/>
        </p:nvSpPr>
        <p:spPr>
          <a:xfrm>
            <a:off x="685800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icfes.fillna({"FAMI_TIENEINTERNET":"No", ...})</a:t>
            </a:r>
            <a:endParaRPr lang="en-US" sz="850" dirty="0"/>
          </a:p>
        </p:txBody>
      </p:sp>
      <p:sp>
        <p:nvSpPr>
          <p:cNvPr id="182" name="Text 177"/>
          <p:cNvSpPr/>
          <p:nvPr/>
        </p:nvSpPr>
        <p:spPr>
          <a:xfrm>
            <a:off x="640080" y="277063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de variables familiares: internet, computador y estrato. Conserva volumen de datos.</a:t>
            </a:r>
            <a:endParaRPr lang="en-US" sz="950" dirty="0"/>
          </a:p>
        </p:txBody>
      </p:sp>
      <p:sp>
        <p:nvSpPr>
          <p:cNvPr id="183" name="Shape 178"/>
          <p:cNvSpPr/>
          <p:nvPr/>
        </p:nvSpPr>
        <p:spPr>
          <a:xfrm>
            <a:off x="4709160" y="2084832"/>
            <a:ext cx="4297680" cy="12801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4" name="Shape 179"/>
          <p:cNvSpPr/>
          <p:nvPr/>
        </p:nvSpPr>
        <p:spPr>
          <a:xfrm>
            <a:off x="4709160" y="2084832"/>
            <a:ext cx="347472" cy="1280160"/>
          </a:xfrm>
          <a:prstGeom prst="rect">
            <a:avLst/>
          </a:prstGeom>
          <a:solidFill>
            <a:srgbClr val="7B2FFF">
              <a:alpha val="8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85" name="Text 180"/>
          <p:cNvSpPr/>
          <p:nvPr/>
        </p:nvSpPr>
        <p:spPr>
          <a:xfrm>
            <a:off x="4745736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1200" dirty="0"/>
          </a:p>
        </p:txBody>
      </p:sp>
      <p:pic>
        <p:nvPicPr>
          <p:cNvPr id="18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496312"/>
            <a:ext cx="256032" cy="256032"/>
          </a:xfrm>
          <a:prstGeom prst="rect">
            <a:avLst/>
          </a:prstGeom>
        </p:spPr>
      </p:pic>
      <p:sp>
        <p:nvSpPr>
          <p:cNvPr id="187" name="Text 181"/>
          <p:cNvSpPr/>
          <p:nvPr/>
        </p:nvSpPr>
        <p:spPr>
          <a:xfrm>
            <a:off x="5166360" y="2130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Integración de fuentes de datos</a:t>
            </a:r>
            <a:endParaRPr lang="en-US" sz="1100" dirty="0"/>
          </a:p>
        </p:txBody>
      </p:sp>
      <p:sp>
        <p:nvSpPr>
          <p:cNvPr id="188" name="Shape 182"/>
          <p:cNvSpPr/>
          <p:nvPr/>
        </p:nvSpPr>
        <p:spPr>
          <a:xfrm>
            <a:off x="5166360" y="2432304"/>
            <a:ext cx="3749040" cy="274320"/>
          </a:xfrm>
          <a:prstGeom prst="rect">
            <a:avLst/>
          </a:prstGeom>
          <a:solidFill>
            <a:srgbClr val="050B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9" name="Text 183"/>
          <p:cNvSpPr/>
          <p:nvPr/>
        </p:nvSpPr>
        <p:spPr>
          <a:xfrm>
            <a:off x="5212080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trim(upper(MCPIO)) == trim(upper(MUNICIPIO))</a:t>
            </a:r>
            <a:endParaRPr lang="en-US" sz="850" dirty="0"/>
          </a:p>
        </p:txBody>
      </p:sp>
      <p:sp>
        <p:nvSpPr>
          <p:cNvPr id="190" name="Text 184"/>
          <p:cNvSpPr/>
          <p:nvPr/>
        </p:nvSpPr>
        <p:spPr>
          <a:xfrm>
            <a:off x="5166360" y="277063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entre ICFES, internet, SGP y riesgo territorial mediante normalización de nombres de municipio.</a:t>
            </a:r>
            <a:endParaRPr lang="en-US" sz="950" dirty="0"/>
          </a:p>
        </p:txBody>
      </p:sp>
      <p:sp>
        <p:nvSpPr>
          <p:cNvPr id="191" name="Shape 185"/>
          <p:cNvSpPr/>
          <p:nvPr/>
        </p:nvSpPr>
        <p:spPr>
          <a:xfrm>
            <a:off x="182880" y="3547872"/>
            <a:ext cx="8778240" cy="12801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182880" y="3547872"/>
            <a:ext cx="347472" cy="1280160"/>
          </a:xfrm>
          <a:prstGeom prst="rect">
            <a:avLst/>
          </a:prstGeom>
          <a:solidFill>
            <a:srgbClr val="00FF94">
              <a:alpha val="8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93" name="Text 187"/>
          <p:cNvSpPr/>
          <p:nvPr/>
        </p:nvSpPr>
        <p:spPr>
          <a:xfrm>
            <a:off x="219456" y="3593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1200" dirty="0"/>
          </a:p>
        </p:txBody>
      </p:sp>
      <p:pic>
        <p:nvPicPr>
          <p:cNvPr id="19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959352"/>
            <a:ext cx="256032" cy="256032"/>
          </a:xfrm>
          <a:prstGeom prst="rect">
            <a:avLst/>
          </a:prstGeom>
        </p:spPr>
      </p:pic>
      <p:sp>
        <p:nvSpPr>
          <p:cNvPr id="195" name="Text 188"/>
          <p:cNvSpPr/>
          <p:nvPr/>
        </p:nvSpPr>
        <p:spPr>
          <a:xfrm>
            <a:off x="640080" y="3593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 per cápita</a:t>
            </a:r>
            <a:endParaRPr lang="en-US" sz="1100" dirty="0"/>
          </a:p>
        </p:txBody>
      </p:sp>
      <p:sp>
        <p:nvSpPr>
          <p:cNvPr id="196" name="Shape 189"/>
          <p:cNvSpPr/>
          <p:nvPr/>
        </p:nvSpPr>
        <p:spPr>
          <a:xfrm>
            <a:off x="640080" y="3895344"/>
            <a:ext cx="8229600" cy="274320"/>
          </a:xfrm>
          <a:prstGeom prst="rect">
            <a:avLst/>
          </a:prstGeom>
          <a:solidFill>
            <a:srgbClr val="050B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7" name="Text 190"/>
          <p:cNvSpPr/>
          <p:nvPr/>
        </p:nvSpPr>
        <p:spPr>
          <a:xfrm>
            <a:off x="685800" y="39136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INTERNET_PER_CAPITA_1000 = (accesos / pob) * 1000</a:t>
            </a:r>
            <a:endParaRPr lang="en-US" sz="850" dirty="0"/>
          </a:p>
        </p:txBody>
      </p:sp>
      <p:sp>
        <p:nvSpPr>
          <p:cNvPr id="198" name="Text 191"/>
          <p:cNvSpPr/>
          <p:nvPr/>
        </p:nvSpPr>
        <p:spPr>
          <a:xfrm>
            <a:off x="640080" y="42336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comparar conectividad entre municipios de distinto tamaño. Medida relativa más justa.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525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120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07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525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716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688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75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61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634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120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066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29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202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75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661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148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093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580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552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039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525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29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9202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175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661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066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0525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229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716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202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688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175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661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148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634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120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607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093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580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066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552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039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525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0" y="539496"/>
            <a:ext cx="9144000" cy="18288"/>
          </a:xfrm>
          <a:prstGeom prst="rect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RESPUESTAS DE NEGOCIO  //  PB1 → PB4</a:t>
            </a:r>
            <a:endParaRPr lang="en-US" sz="1800" dirty="0"/>
          </a:p>
        </p:txBody>
      </p:sp>
      <p:graphicFrame>
        <p:nvGraphicFramePr>
          <p:cNvPr id="159" name="Chart 0" descr=""/>
          <p:cNvGraphicFramePr/>
          <p:nvPr/>
        </p:nvGraphicFramePr>
        <p:xfrm>
          <a:off x="182880" y="594360"/>
          <a:ext cx="41148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0" name="Chart 1" descr=""/>
          <p:cNvGraphicFramePr/>
          <p:nvPr/>
        </p:nvGraphicFramePr>
        <p:xfrm>
          <a:off x="4846320" y="594360"/>
          <a:ext cx="40233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1" name="Shape 157"/>
          <p:cNvSpPr/>
          <p:nvPr/>
        </p:nvSpPr>
        <p:spPr>
          <a:xfrm>
            <a:off x="182880" y="2651760"/>
            <a:ext cx="4114800" cy="228600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>
            <a:off x="182880" y="2651760"/>
            <a:ext cx="4114800" cy="27432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274320" y="26609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PB3: Puntajes por Estrato e Internet (Buenaventura)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944368"/>
          <a:ext cx="4023360" cy="18288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Estrato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123.71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Estrato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Estrato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Estrato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121.xx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Estrato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126.xx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</a:tbl>
          </a:graphicData>
        </a:graphic>
      </p:graphicFrame>
      <p:sp>
        <p:nvSpPr>
          <p:cNvPr id="165" name="Shape 160"/>
          <p:cNvSpPr/>
          <p:nvPr/>
        </p:nvSpPr>
        <p:spPr>
          <a:xfrm>
            <a:off x="4846320" y="2651760"/>
            <a:ext cx="4023360" cy="228600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4846320" y="2651760"/>
            <a:ext cx="4023360" cy="274320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167" name="Text 162"/>
          <p:cNvSpPr/>
          <p:nvPr/>
        </p:nvSpPr>
        <p:spPr>
          <a:xfrm>
            <a:off x="493776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PB4: SGP Educación vs Rendimiento ICFES</a:t>
            </a:r>
            <a:endParaRPr lang="en-US" sz="9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944368"/>
          <a:ext cx="3931920" cy="137160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ICFES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Riohacha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Buenaventura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Quibdó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</a:tbl>
          </a:graphicData>
        </a:graphic>
      </p:graphicFrame>
      <p:sp>
        <p:nvSpPr>
          <p:cNvPr id="169" name="Text 163"/>
          <p:cNvSpPr/>
          <p:nvPr/>
        </p:nvSpPr>
        <p:spPr>
          <a:xfrm>
            <a:off x="4892040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Mayor conectividad no garantiza mayor rendimiento: la inversión debe articularse con factores pedagógicos.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525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120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07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525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716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688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75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61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634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120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066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29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202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75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661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148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093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580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552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039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525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29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9202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175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661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066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0525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229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716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202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688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175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661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148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634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120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607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093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580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066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552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039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525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0" y="539496"/>
            <a:ext cx="9144000" cy="18288"/>
          </a:xfrm>
          <a:prstGeom prst="rect">
            <a:avLst/>
          </a:prstGeom>
          <a:solidFill>
            <a:srgbClr val="7B2FFF">
              <a:alpha val="40000"/>
            </a:srgbClr>
          </a:solidFill>
          <a:ln w="12700">
            <a:solidFill>
              <a:srgbClr val="7B2FFF">
                <a:alpha val="4000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RESPUESTAS DE NEGOCIO  //  PB5 → PB8</a:t>
            </a:r>
            <a:endParaRPr lang="en-US" sz="1800" dirty="0"/>
          </a:p>
        </p:txBody>
      </p:sp>
      <p:sp>
        <p:nvSpPr>
          <p:cNvPr id="159" name="Shape 157"/>
          <p:cNvSpPr/>
          <p:nvPr/>
        </p:nvSpPr>
        <p:spPr>
          <a:xfrm>
            <a:off x="182880" y="594360"/>
            <a:ext cx="4114800" cy="210312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82880" y="594360"/>
            <a:ext cx="4114800" cy="274320"/>
          </a:xfrm>
          <a:prstGeom prst="rect">
            <a:avLst/>
          </a:prstGeom>
          <a:solidFill>
            <a:srgbClr val="00FF94">
              <a:alpha val="70000"/>
            </a:srgbClr>
          </a:solidFill>
          <a:ln w="12700">
            <a:solidFill>
              <a:srgbClr val="00FF94">
                <a:alpha val="70000"/>
              </a:srgbClr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274320" y="603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PB5: Bibliotecas vs Conectividad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86968"/>
          <a:ext cx="4023360" cy="10972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Bibliotecas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ICFES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Riohacha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Buenaventura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</a:tbl>
          </a:graphicData>
        </a:graphic>
      </p:graphicFrame>
      <p:sp>
        <p:nvSpPr>
          <p:cNvPr id="163" name="Text 160"/>
          <p:cNvSpPr/>
          <p:nvPr/>
        </p:nvSpPr>
        <p:spPr>
          <a:xfrm>
            <a:off x="27432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bibliotecas son apoyo potencial, pero su impacto depende de internet, equipos y acompañamiento.</a:t>
            </a:r>
            <a:endParaRPr lang="en-US" sz="900" dirty="0"/>
          </a:p>
        </p:txBody>
      </p:sp>
      <p:sp>
        <p:nvSpPr>
          <p:cNvPr id="164" name="Shape 161"/>
          <p:cNvSpPr/>
          <p:nvPr/>
        </p:nvSpPr>
        <p:spPr>
          <a:xfrm>
            <a:off x="4846320" y="594360"/>
            <a:ext cx="4023360" cy="210312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4846320" y="594360"/>
            <a:ext cx="4023360" cy="27432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4937760" y="603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PB6: Riesgo Territorial vs Rendimiento</a:t>
            </a:r>
            <a:endParaRPr lang="en-US" sz="9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886968"/>
          <a:ext cx="3931920" cy="128016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ICFES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Quibdó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Riohacha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Buenaventura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</a:tbl>
          </a:graphicData>
        </a:graphic>
      </p:graphicFrame>
      <p:sp>
        <p:nvSpPr>
          <p:cNvPr id="168" name="Text 164"/>
          <p:cNvSpPr/>
          <p:nvPr/>
        </p:nvSpPr>
        <p:spPr>
          <a:xfrm>
            <a:off x="49377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ambiental → menor rendimiento. El territorio importa.</a:t>
            </a:r>
            <a:endParaRPr lang="en-US" sz="900" dirty="0"/>
          </a:p>
        </p:txBody>
      </p:sp>
      <p:sp>
        <p:nvSpPr>
          <p:cNvPr id="169" name="Shape 165"/>
          <p:cNvSpPr/>
          <p:nvPr/>
        </p:nvSpPr>
        <p:spPr>
          <a:xfrm>
            <a:off x="182880" y="2788920"/>
            <a:ext cx="4114800" cy="210312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182880" y="2788920"/>
            <a:ext cx="4114800" cy="274320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171" name="Text 167"/>
          <p:cNvSpPr/>
          <p:nvPr/>
        </p:nvSpPr>
        <p:spPr>
          <a:xfrm>
            <a:off x="274320" y="2798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PB7: Perfiles Socioeconómicos</a:t>
            </a:r>
            <a:endParaRPr lang="en-US" sz="95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81528"/>
          <a:ext cx="4023360" cy="1554480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of. fund.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Oficial mun.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of. fund.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of. mun.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A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Chart 0" descr=""/>
          <p:cNvGraphicFramePr/>
          <p:nvPr/>
        </p:nvGraphicFramePr>
        <p:xfrm>
          <a:off x="4846320" y="2788920"/>
          <a:ext cx="40233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525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120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07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525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716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688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75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61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634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120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066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29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202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75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661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148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093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580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552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039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525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29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9202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175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661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066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0525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229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716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202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688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175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661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148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634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120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607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093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580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066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552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039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525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0" y="539496"/>
            <a:ext cx="9144000" cy="18288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MODELOS DE APRENDIZAJE DE MÁQUINA</a:t>
            </a:r>
            <a:endParaRPr lang="en-US" sz="1800" dirty="0"/>
          </a:p>
        </p:txBody>
      </p:sp>
      <p:sp>
        <p:nvSpPr>
          <p:cNvPr id="159" name="Shape 157"/>
          <p:cNvSpPr/>
          <p:nvPr/>
        </p:nvSpPr>
        <p:spPr>
          <a:xfrm>
            <a:off x="182880" y="621792"/>
            <a:ext cx="4206240" cy="42519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82880" y="621792"/>
            <a:ext cx="4206240" cy="36576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>
                <a:alpha val="80000"/>
              </a:srgbClr>
            </a:solidFill>
            <a:prstDash val="solid"/>
          </a:ln>
        </p:spPr>
      </p:sp>
      <p:pic>
        <p:nvPicPr>
          <p:cNvPr id="16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58368"/>
            <a:ext cx="292608" cy="292608"/>
          </a:xfrm>
          <a:prstGeom prst="rect">
            <a:avLst/>
          </a:prstGeom>
        </p:spPr>
      </p:pic>
      <p:sp>
        <p:nvSpPr>
          <p:cNvPr id="162" name="Text 159"/>
          <p:cNvSpPr/>
          <p:nvPr/>
        </p:nvSpPr>
        <p:spPr>
          <a:xfrm>
            <a:off x="640080" y="6583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 REGRESSOR</a:t>
            </a:r>
            <a:endParaRPr lang="en-US" sz="1100" dirty="0"/>
          </a:p>
        </p:txBody>
      </p:sp>
      <p:sp>
        <p:nvSpPr>
          <p:cNvPr id="163" name="Text 160"/>
          <p:cNvSpPr/>
          <p:nvPr/>
        </p:nvSpPr>
        <p:spPr>
          <a:xfrm>
            <a:off x="274320" y="1051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 · Variable objetivo: PROMEDIO</a:t>
            </a:r>
            <a:endParaRPr lang="en-US" sz="1000" dirty="0"/>
          </a:p>
        </p:txBody>
      </p:sp>
      <p:sp>
        <p:nvSpPr>
          <p:cNvPr id="164" name="Shape 161"/>
          <p:cNvSpPr/>
          <p:nvPr/>
        </p:nvSpPr>
        <p:spPr>
          <a:xfrm>
            <a:off x="274320" y="1353312"/>
            <a:ext cx="3931920" cy="960120"/>
          </a:xfrm>
          <a:prstGeom prst="rect">
            <a:avLst/>
          </a:prstGeom>
          <a:solidFill>
            <a:srgbClr val="050B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347472" y="138988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RandomForestRegressor(
</a:t>
            </a:r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numTrees=50, maxDepth=5,
</a:t>
            </a:r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labelCol='PROMEDIO', seed=42
</a:t>
            </a:r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modelo_rf = rf.fit(train_df)</a:t>
            </a:r>
            <a:endParaRPr lang="en-US" sz="900" dirty="0"/>
          </a:p>
        </p:txBody>
      </p:sp>
      <p:sp>
        <p:nvSpPr>
          <p:cNvPr id="166" name="Shape 163"/>
          <p:cNvSpPr/>
          <p:nvPr/>
        </p:nvSpPr>
        <p:spPr>
          <a:xfrm>
            <a:off x="274320" y="2468880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475488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relaciones no lineales entre variables</a:t>
            </a:r>
            <a:endParaRPr lang="en-US" sz="1000" dirty="0"/>
          </a:p>
        </p:txBody>
      </p:sp>
      <p:sp>
        <p:nvSpPr>
          <p:cNvPr id="168" name="Shape 165"/>
          <p:cNvSpPr/>
          <p:nvPr/>
        </p:nvSpPr>
        <p:spPr>
          <a:xfrm>
            <a:off x="274320" y="2852928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475488" y="2807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frente a ruido y valores atípicos</a:t>
            </a:r>
            <a:endParaRPr lang="en-US" sz="1000" dirty="0"/>
          </a:p>
        </p:txBody>
      </p:sp>
      <p:sp>
        <p:nvSpPr>
          <p:cNvPr id="170" name="Shape 167"/>
          <p:cNvSpPr/>
          <p:nvPr/>
        </p:nvSpPr>
        <p:spPr>
          <a:xfrm>
            <a:off x="274320" y="323697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475488" y="31912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variables numéricas y categóricas</a:t>
            </a:r>
            <a:endParaRPr lang="en-US" sz="1000" dirty="0"/>
          </a:p>
        </p:txBody>
      </p:sp>
      <p:sp>
        <p:nvSpPr>
          <p:cNvPr id="172" name="Shape 169"/>
          <p:cNvSpPr/>
          <p:nvPr/>
        </p:nvSpPr>
        <p:spPr>
          <a:xfrm>
            <a:off x="274320" y="3621024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475488" y="35753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en Spark MLlib</a:t>
            </a:r>
            <a:endParaRPr lang="en-US" sz="1000" dirty="0"/>
          </a:p>
        </p:txBody>
      </p:sp>
      <p:sp>
        <p:nvSpPr>
          <p:cNvPr id="174" name="Text 171"/>
          <p:cNvSpPr/>
          <p:nvPr/>
        </p:nvSpPr>
        <p:spPr>
          <a:xfrm>
            <a:off x="274320" y="40965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División: 80% entrenamiento / 20% prueba</a:t>
            </a:r>
            <a:endParaRPr lang="en-US" sz="950" dirty="0"/>
          </a:p>
        </p:txBody>
      </p:sp>
      <p:sp>
        <p:nvSpPr>
          <p:cNvPr id="175" name="Text 172"/>
          <p:cNvSpPr/>
          <p:nvPr/>
        </p:nvSpPr>
        <p:spPr>
          <a:xfrm>
            <a:off x="274320" y="4325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 numTrees ∈ {20,50,100}  ·  maxDepth ∈ {3,5,8}</a:t>
            </a:r>
            <a:endParaRPr lang="en-US" sz="950" dirty="0"/>
          </a:p>
        </p:txBody>
      </p:sp>
      <p:sp>
        <p:nvSpPr>
          <p:cNvPr id="176" name="Shape 173"/>
          <p:cNvSpPr/>
          <p:nvPr/>
        </p:nvSpPr>
        <p:spPr>
          <a:xfrm>
            <a:off x="4663440" y="621792"/>
            <a:ext cx="4251960" cy="42519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4663440" y="621792"/>
            <a:ext cx="4251960" cy="365760"/>
          </a:xfrm>
          <a:prstGeom prst="rect">
            <a:avLst/>
          </a:prstGeom>
          <a:solidFill>
            <a:srgbClr val="7B2FFF">
              <a:alpha val="80000"/>
            </a:srgbClr>
          </a:solidFill>
          <a:ln w="12700">
            <a:solidFill>
              <a:srgbClr val="7B2FFF">
                <a:alpha val="80000"/>
              </a:srgbClr>
            </a:solidFill>
            <a:prstDash val="solid"/>
          </a:ln>
        </p:spPr>
      </p:sp>
      <p:pic>
        <p:nvPicPr>
          <p:cNvPr id="17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658368"/>
            <a:ext cx="292608" cy="292608"/>
          </a:xfrm>
          <a:prstGeom prst="rect">
            <a:avLst/>
          </a:prstGeom>
        </p:spPr>
      </p:pic>
      <p:sp>
        <p:nvSpPr>
          <p:cNvPr id="179" name="Text 175"/>
          <p:cNvSpPr/>
          <p:nvPr/>
        </p:nvSpPr>
        <p:spPr>
          <a:xfrm>
            <a:off x="5120640" y="6583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 CLUSTERING</a:t>
            </a:r>
            <a:endParaRPr lang="en-US" sz="1100" dirty="0"/>
          </a:p>
        </p:txBody>
      </p:sp>
      <p:sp>
        <p:nvSpPr>
          <p:cNvPr id="180" name="Text 176"/>
          <p:cNvSpPr/>
          <p:nvPr/>
        </p:nvSpPr>
        <p:spPr>
          <a:xfrm>
            <a:off x="4754880" y="1051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 · Agrupación por perfiles</a:t>
            </a:r>
            <a:endParaRPr lang="en-US" sz="1000" dirty="0"/>
          </a:p>
        </p:txBody>
      </p:sp>
      <p:sp>
        <p:nvSpPr>
          <p:cNvPr id="181" name="Shape 177"/>
          <p:cNvSpPr/>
          <p:nvPr/>
        </p:nvSpPr>
        <p:spPr>
          <a:xfrm>
            <a:off x="4754880" y="1353312"/>
            <a:ext cx="3931920" cy="960120"/>
          </a:xfrm>
          <a:prstGeom prst="rect">
            <a:avLst/>
          </a:prstGeom>
          <a:solidFill>
            <a:srgbClr val="050B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2" name="Text 178"/>
          <p:cNvSpPr/>
          <p:nvPr/>
        </p:nvSpPr>
        <p:spPr>
          <a:xfrm>
            <a:off x="4828032" y="138988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 = KMeans(
</a:t>
            </a:r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k=3, seed=42,
</a:t>
            </a:r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featuresCol='features'
</a:t>
            </a:r>
            <a:pPr indent="0" marL="0">
              <a:buNone/>
            </a:pPr>
            <a:r>
              <a:rPr lang="en-US" sz="9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 = kmeans.fit(df_preparado)</a:t>
            </a:r>
            <a:endParaRPr lang="en-US" sz="900" dirty="0"/>
          </a:p>
        </p:txBody>
      </p:sp>
      <p:sp>
        <p:nvSpPr>
          <p:cNvPr id="183" name="Shape 179"/>
          <p:cNvSpPr/>
          <p:nvPr/>
        </p:nvSpPr>
        <p:spPr>
          <a:xfrm>
            <a:off x="4754880" y="2468880"/>
            <a:ext cx="109728" cy="10972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84" name="Text 180"/>
          <p:cNvSpPr/>
          <p:nvPr/>
        </p:nvSpPr>
        <p:spPr>
          <a:xfrm>
            <a:off x="4956048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 municipios o estudiantes sin etiqueta</a:t>
            </a:r>
            <a:endParaRPr lang="en-US" sz="1000" dirty="0"/>
          </a:p>
        </p:txBody>
      </p:sp>
      <p:sp>
        <p:nvSpPr>
          <p:cNvPr id="185" name="Shape 181"/>
          <p:cNvSpPr/>
          <p:nvPr/>
        </p:nvSpPr>
        <p:spPr>
          <a:xfrm>
            <a:off x="4754880" y="2852928"/>
            <a:ext cx="109728" cy="10972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86" name="Text 182"/>
          <p:cNvSpPr/>
          <p:nvPr/>
        </p:nvSpPr>
        <p:spPr>
          <a:xfrm>
            <a:off x="4956048" y="2807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perfiles prioritarios para intervención</a:t>
            </a:r>
            <a:endParaRPr lang="en-US" sz="1000" dirty="0"/>
          </a:p>
        </p:txBody>
      </p:sp>
      <p:sp>
        <p:nvSpPr>
          <p:cNvPr id="187" name="Shape 183"/>
          <p:cNvSpPr/>
          <p:nvPr/>
        </p:nvSpPr>
        <p:spPr>
          <a:xfrm>
            <a:off x="4754880" y="3236976"/>
            <a:ext cx="109728" cy="10972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88" name="Text 184"/>
          <p:cNvSpPr/>
          <p:nvPr/>
        </p:nvSpPr>
        <p:spPr>
          <a:xfrm>
            <a:off x="4956048" y="31912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 y escalable en grandes volúmenes</a:t>
            </a:r>
            <a:endParaRPr lang="en-US" sz="1000" dirty="0"/>
          </a:p>
        </p:txBody>
      </p:sp>
      <p:sp>
        <p:nvSpPr>
          <p:cNvPr id="189" name="Shape 185"/>
          <p:cNvSpPr/>
          <p:nvPr/>
        </p:nvSpPr>
        <p:spPr>
          <a:xfrm>
            <a:off x="4754880" y="3621024"/>
            <a:ext cx="109728" cy="10972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0" name="Text 186"/>
          <p:cNvSpPr/>
          <p:nvPr/>
        </p:nvSpPr>
        <p:spPr>
          <a:xfrm>
            <a:off x="4956048" y="35753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 con métrica Silhouette</a:t>
            </a:r>
            <a:endParaRPr lang="en-US" sz="1000" dirty="0"/>
          </a:p>
        </p:txBody>
      </p:sp>
      <p:sp>
        <p:nvSpPr>
          <p:cNvPr id="191" name="Text 187"/>
          <p:cNvSpPr/>
          <p:nvPr/>
        </p:nvSpPr>
        <p:spPr>
          <a:xfrm>
            <a:off x="4754880" y="40965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K probados: k ∈ {2, 3, 4, 5, 6}</a:t>
            </a:r>
            <a:endParaRPr lang="en-US" sz="950" dirty="0"/>
          </a:p>
        </p:txBody>
      </p:sp>
      <p:sp>
        <p:nvSpPr>
          <p:cNvPr id="192" name="Text 188"/>
          <p:cNvSpPr/>
          <p:nvPr/>
        </p:nvSpPr>
        <p:spPr>
          <a:xfrm>
            <a:off x="4754880" y="4325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Selección: mejor Silhouette + interpretabilidad de negocio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525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120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07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525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716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688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75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61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634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120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066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29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202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75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661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148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093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580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552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039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525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29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9202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175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661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066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0525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229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716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202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688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175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661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148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634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120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607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093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580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066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552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039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525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0" y="539496"/>
            <a:ext cx="9144000" cy="18288"/>
          </a:xfrm>
          <a:prstGeom prst="rect">
            <a:avLst/>
          </a:prstGeom>
          <a:solidFill>
            <a:srgbClr val="00FF94">
              <a:alpha val="40000"/>
            </a:srgbClr>
          </a:solidFill>
          <a:ln w="12700">
            <a:solidFill>
              <a:srgbClr val="00FF94">
                <a:alpha val="4000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PREPARACIÓN DE DATOS Y MÉTRICAS</a:t>
            </a:r>
            <a:endParaRPr lang="en-US" sz="1800" dirty="0"/>
          </a:p>
        </p:txBody>
      </p:sp>
      <p:sp>
        <p:nvSpPr>
          <p:cNvPr id="159" name="Text 157"/>
          <p:cNvSpPr/>
          <p:nvPr/>
        </p:nvSpPr>
        <p:spPr>
          <a:xfrm>
            <a:off x="228600" y="59436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DE PREPARACIÓN →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182880" y="822960"/>
            <a:ext cx="1554480" cy="438912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82880" y="822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StringIndexer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1737360" y="987552"/>
            <a:ext cx="219456" cy="91440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956816" y="822960"/>
            <a:ext cx="1554480" cy="438912"/>
          </a:xfrm>
          <a:prstGeom prst="rect">
            <a:avLst/>
          </a:prstGeom>
          <a:solidFill>
            <a:srgbClr val="7B2FFF">
              <a:alpha val="7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956816" y="822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OneHotEncoder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3511296" y="987552"/>
            <a:ext cx="219456" cy="91440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730752" y="822960"/>
            <a:ext cx="1554480" cy="438912"/>
          </a:xfrm>
          <a:prstGeom prst="rect">
            <a:avLst/>
          </a:prstGeom>
          <a:solidFill>
            <a:srgbClr val="00FF94">
              <a:alpha val="75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3730752" y="822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VectorAssembler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5285232" y="987552"/>
            <a:ext cx="219456" cy="91440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04688" y="822960"/>
            <a:ext cx="1554480" cy="438912"/>
          </a:xfrm>
          <a:prstGeom prst="rect">
            <a:avLst/>
          </a:prstGeom>
          <a:solidFill>
            <a:srgbClr val="FF6B35">
              <a:alpha val="7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504688" y="822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7059168" y="987552"/>
            <a:ext cx="219456" cy="91440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278624" y="822960"/>
            <a:ext cx="1554480" cy="438912"/>
          </a:xfrm>
          <a:prstGeom prst="rect">
            <a:avLst/>
          </a:prstGeom>
          <a:solidFill>
            <a:srgbClr val="7B2FFF">
              <a:alpha val="7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7278624" y="822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/ KMeans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182880" y="1417320"/>
            <a:ext cx="4206240" cy="342900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82880" y="1417320"/>
            <a:ext cx="4206240" cy="292608"/>
          </a:xfrm>
          <a:prstGeom prst="rect">
            <a:avLst/>
          </a:prstGeom>
          <a:solidFill>
            <a:srgbClr val="00FF94">
              <a:alpha val="70000"/>
            </a:srgbClr>
          </a:solidFill>
          <a:ln w="12700">
            <a:solidFill>
              <a:srgbClr val="00FF94">
                <a:alpha val="70000"/>
              </a:srgbClr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74320" y="1435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SELECCIONADAS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182880" y="1737360"/>
            <a:ext cx="42062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82880" y="1828800"/>
            <a:ext cx="45720" cy="109728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92608" y="17739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</a:t>
            </a:r>
            <a:endParaRPr lang="en-US" sz="850" dirty="0"/>
          </a:p>
        </p:txBody>
      </p:sp>
      <p:sp>
        <p:nvSpPr>
          <p:cNvPr id="180" name="Text 178"/>
          <p:cNvSpPr/>
          <p:nvPr/>
        </p:nvSpPr>
        <p:spPr>
          <a:xfrm>
            <a:off x="2331720" y="17739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</a:t>
            </a:r>
            <a:endParaRPr lang="en-US" sz="800" dirty="0"/>
          </a:p>
        </p:txBody>
      </p:sp>
      <p:sp>
        <p:nvSpPr>
          <p:cNvPr id="181" name="Text 179"/>
          <p:cNvSpPr/>
          <p:nvPr/>
        </p:nvSpPr>
        <p:spPr>
          <a:xfrm>
            <a:off x="2761488" y="17739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182880" y="2121408"/>
            <a:ext cx="4572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92608" y="2066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INTERNET_PER_CAPITA_1000</a:t>
            </a:r>
            <a:endParaRPr lang="en-US" sz="850" dirty="0"/>
          </a:p>
        </p:txBody>
      </p:sp>
      <p:sp>
        <p:nvSpPr>
          <p:cNvPr id="184" name="Text 182"/>
          <p:cNvSpPr/>
          <p:nvPr/>
        </p:nvSpPr>
        <p:spPr>
          <a:xfrm>
            <a:off x="2331720" y="206654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</a:t>
            </a:r>
            <a:endParaRPr lang="en-US" sz="800" dirty="0"/>
          </a:p>
        </p:txBody>
      </p:sp>
      <p:sp>
        <p:nvSpPr>
          <p:cNvPr id="185" name="Text 183"/>
          <p:cNvSpPr/>
          <p:nvPr/>
        </p:nvSpPr>
        <p:spPr>
          <a:xfrm>
            <a:off x="2761488" y="20665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territorial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182880" y="2322576"/>
            <a:ext cx="42062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82880" y="2414016"/>
            <a:ext cx="4572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292608" y="23591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DE ACCESOS</a:t>
            </a:r>
            <a:endParaRPr lang="en-US" sz="850" dirty="0"/>
          </a:p>
        </p:txBody>
      </p:sp>
      <p:sp>
        <p:nvSpPr>
          <p:cNvPr id="189" name="Text 187"/>
          <p:cNvSpPr/>
          <p:nvPr/>
        </p:nvSpPr>
        <p:spPr>
          <a:xfrm>
            <a:off x="2331720" y="23591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</a:t>
            </a:r>
            <a:endParaRPr lang="en-US" sz="800" dirty="0"/>
          </a:p>
        </p:txBody>
      </p:sp>
      <p:sp>
        <p:nvSpPr>
          <p:cNvPr id="190" name="Text 188"/>
          <p:cNvSpPr/>
          <p:nvPr/>
        </p:nvSpPr>
        <p:spPr>
          <a:xfrm>
            <a:off x="2761488" y="2359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internet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182880" y="2706624"/>
            <a:ext cx="4572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292608" y="26517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POBLACION_MUNICIPIO</a:t>
            </a:r>
            <a:endParaRPr lang="en-US" sz="850" dirty="0"/>
          </a:p>
        </p:txBody>
      </p:sp>
      <p:sp>
        <p:nvSpPr>
          <p:cNvPr id="193" name="Text 191"/>
          <p:cNvSpPr/>
          <p:nvPr/>
        </p:nvSpPr>
        <p:spPr>
          <a:xfrm>
            <a:off x="2331720" y="26517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</a:t>
            </a:r>
            <a:endParaRPr lang="en-US" sz="800" dirty="0"/>
          </a:p>
        </p:txBody>
      </p:sp>
      <p:sp>
        <p:nvSpPr>
          <p:cNvPr id="194" name="Text 192"/>
          <p:cNvSpPr/>
          <p:nvPr/>
        </p:nvSpPr>
        <p:spPr>
          <a:xfrm>
            <a:off x="2761488" y="26517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tamaño municipal</a:t>
            </a:r>
            <a:endParaRPr lang="en-US" sz="800" dirty="0"/>
          </a:p>
        </p:txBody>
      </p:sp>
      <p:sp>
        <p:nvSpPr>
          <p:cNvPr id="195" name="Shape 193"/>
          <p:cNvSpPr/>
          <p:nvPr/>
        </p:nvSpPr>
        <p:spPr>
          <a:xfrm>
            <a:off x="182880" y="2907792"/>
            <a:ext cx="42062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82880" y="2999232"/>
            <a:ext cx="4572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92608" y="29443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SGP_CALIDAD_PRESUPUESTO</a:t>
            </a:r>
            <a:endParaRPr lang="en-US" sz="850" dirty="0"/>
          </a:p>
        </p:txBody>
      </p:sp>
      <p:sp>
        <p:nvSpPr>
          <p:cNvPr id="198" name="Text 196"/>
          <p:cNvSpPr/>
          <p:nvPr/>
        </p:nvSpPr>
        <p:spPr>
          <a:xfrm>
            <a:off x="2331720" y="29443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</a:t>
            </a:r>
            <a:endParaRPr lang="en-US" sz="800" dirty="0"/>
          </a:p>
        </p:txBody>
      </p:sp>
      <p:sp>
        <p:nvSpPr>
          <p:cNvPr id="199" name="Text 197"/>
          <p:cNvSpPr/>
          <p:nvPr/>
        </p:nvSpPr>
        <p:spPr>
          <a:xfrm>
            <a:off x="2761488" y="29443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educativa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182880" y="3291840"/>
            <a:ext cx="4572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292608" y="3236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Exposición a Sequía Extrema</a:t>
            </a:r>
            <a:endParaRPr lang="en-US" sz="850" dirty="0"/>
          </a:p>
        </p:txBody>
      </p:sp>
      <p:sp>
        <p:nvSpPr>
          <p:cNvPr id="202" name="Text 200"/>
          <p:cNvSpPr/>
          <p:nvPr/>
        </p:nvSpPr>
        <p:spPr>
          <a:xfrm>
            <a:off x="2331720" y="32369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2761488" y="32369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territorial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182880" y="3493008"/>
            <a:ext cx="42062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82880" y="3584448"/>
            <a:ext cx="45720" cy="10972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292608" y="35295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FAMI_TIENEINTERNET</a:t>
            </a:r>
            <a:endParaRPr lang="en-US" sz="850" dirty="0"/>
          </a:p>
        </p:txBody>
      </p:sp>
      <p:sp>
        <p:nvSpPr>
          <p:cNvPr id="207" name="Text 205"/>
          <p:cNvSpPr/>
          <p:nvPr/>
        </p:nvSpPr>
        <p:spPr>
          <a:xfrm>
            <a:off x="2331720" y="35295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Cat.</a:t>
            </a:r>
            <a:endParaRPr lang="en-US" sz="800" dirty="0"/>
          </a:p>
        </p:txBody>
      </p:sp>
      <p:sp>
        <p:nvSpPr>
          <p:cNvPr id="208" name="Text 206"/>
          <p:cNvSpPr/>
          <p:nvPr/>
        </p:nvSpPr>
        <p:spPr>
          <a:xfrm>
            <a:off x="2761488" y="35295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en hogar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182880" y="3877056"/>
            <a:ext cx="45720" cy="10972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292608" y="38221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FAMI_TIENECOMPUTADOR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2331720" y="38221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Cat.</a:t>
            </a:r>
            <a:endParaRPr lang="en-US" sz="800" dirty="0"/>
          </a:p>
        </p:txBody>
      </p:sp>
      <p:sp>
        <p:nvSpPr>
          <p:cNvPr id="212" name="Text 210"/>
          <p:cNvSpPr/>
          <p:nvPr/>
        </p:nvSpPr>
        <p:spPr>
          <a:xfrm>
            <a:off x="2761488" y="38221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tecnológico</a:t>
            </a:r>
            <a:endParaRPr lang="en-US" sz="800" dirty="0"/>
          </a:p>
        </p:txBody>
      </p:sp>
      <p:sp>
        <p:nvSpPr>
          <p:cNvPr id="213" name="Shape 211"/>
          <p:cNvSpPr/>
          <p:nvPr/>
        </p:nvSpPr>
        <p:spPr>
          <a:xfrm>
            <a:off x="182880" y="4078224"/>
            <a:ext cx="42062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82880" y="4169664"/>
            <a:ext cx="45720" cy="10972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292608" y="4114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FAMI_ESTRATOVIVIENDA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2331720" y="41148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Cat.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2761488" y="41148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socioeconómica</a:t>
            </a:r>
            <a:endParaRPr lang="en-US" sz="800" dirty="0"/>
          </a:p>
        </p:txBody>
      </p:sp>
      <p:sp>
        <p:nvSpPr>
          <p:cNvPr id="218" name="Shape 216"/>
          <p:cNvSpPr/>
          <p:nvPr/>
        </p:nvSpPr>
        <p:spPr>
          <a:xfrm>
            <a:off x="182880" y="4462272"/>
            <a:ext cx="45720" cy="10972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292608" y="4407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INST_ORIGEN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2331720" y="44074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Cat.</a:t>
            </a:r>
            <a:endParaRPr lang="en-US" sz="800" dirty="0"/>
          </a:p>
        </p:txBody>
      </p:sp>
      <p:sp>
        <p:nvSpPr>
          <p:cNvPr id="221" name="Text 219"/>
          <p:cNvSpPr/>
          <p:nvPr/>
        </p:nvSpPr>
        <p:spPr>
          <a:xfrm>
            <a:off x="2761488" y="44074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institución</a:t>
            </a:r>
            <a:endParaRPr lang="en-US" sz="800" dirty="0"/>
          </a:p>
        </p:txBody>
      </p:sp>
      <p:sp>
        <p:nvSpPr>
          <p:cNvPr id="222" name="Shape 220"/>
          <p:cNvSpPr/>
          <p:nvPr/>
        </p:nvSpPr>
        <p:spPr>
          <a:xfrm>
            <a:off x="4617720" y="1417320"/>
            <a:ext cx="4297680" cy="342900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617720" y="1417320"/>
            <a:ext cx="4297680" cy="29260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4709160" y="1435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MÉTRICAS DE EVALUACIÓN</a:t>
            </a:r>
            <a:endParaRPr lang="en-US" sz="1000" dirty="0"/>
          </a:p>
        </p:txBody>
      </p:sp>
      <p:sp>
        <p:nvSpPr>
          <p:cNvPr id="225" name="Shape 223"/>
          <p:cNvSpPr/>
          <p:nvPr/>
        </p:nvSpPr>
        <p:spPr>
          <a:xfrm>
            <a:off x="4709160" y="1828800"/>
            <a:ext cx="4069080" cy="658368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709160" y="1828800"/>
            <a:ext cx="54864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4828032" y="1865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</a:t>
            </a:r>
            <a:endParaRPr lang="en-US" sz="1300" dirty="0"/>
          </a:p>
        </p:txBody>
      </p:sp>
      <p:sp>
        <p:nvSpPr>
          <p:cNvPr id="228" name="Shape 226"/>
          <p:cNvSpPr/>
          <p:nvPr/>
        </p:nvSpPr>
        <p:spPr>
          <a:xfrm>
            <a:off x="5760720" y="1883664"/>
            <a:ext cx="2880360" cy="237744"/>
          </a:xfrm>
          <a:prstGeom prst="rect">
            <a:avLst/>
          </a:prstGeom>
          <a:solidFill>
            <a:srgbClr val="050B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5806440" y="19019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√(Σ(yᵢ − ŷᵢ)² / n)</a:t>
            </a:r>
            <a:endParaRPr lang="en-US" sz="900" dirty="0"/>
          </a:p>
        </p:txBody>
      </p:sp>
      <p:sp>
        <p:nvSpPr>
          <p:cNvPr id="230" name="Text 228"/>
          <p:cNvSpPr/>
          <p:nvPr/>
        </p:nvSpPr>
        <p:spPr>
          <a:xfrm>
            <a:off x="4828032" y="21762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cuadrático medio. Penaliza desviaciones grandes. Menor = mejor.</a:t>
            </a:r>
            <a:endParaRPr lang="en-US" sz="850" dirty="0"/>
          </a:p>
        </p:txBody>
      </p:sp>
      <p:sp>
        <p:nvSpPr>
          <p:cNvPr id="231" name="Shape 229"/>
          <p:cNvSpPr/>
          <p:nvPr/>
        </p:nvSpPr>
        <p:spPr>
          <a:xfrm>
            <a:off x="4709160" y="2578608"/>
            <a:ext cx="4069080" cy="658368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709160" y="2578608"/>
            <a:ext cx="54864" cy="658368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4828032" y="2615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</a:t>
            </a:r>
            <a:endParaRPr lang="en-US" sz="1300" dirty="0"/>
          </a:p>
        </p:txBody>
      </p:sp>
      <p:sp>
        <p:nvSpPr>
          <p:cNvPr id="234" name="Shape 232"/>
          <p:cNvSpPr/>
          <p:nvPr/>
        </p:nvSpPr>
        <p:spPr>
          <a:xfrm>
            <a:off x="5760720" y="2633472"/>
            <a:ext cx="2880360" cy="237744"/>
          </a:xfrm>
          <a:prstGeom prst="rect">
            <a:avLst/>
          </a:prstGeom>
          <a:solidFill>
            <a:srgbClr val="050B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5806440" y="2651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Σ|yᵢ − ŷᵢ| / n</a:t>
            </a:r>
            <a:endParaRPr lang="en-US" sz="900" dirty="0"/>
          </a:p>
        </p:txBody>
      </p:sp>
      <p:sp>
        <p:nvSpPr>
          <p:cNvPr id="236" name="Text 234"/>
          <p:cNvSpPr/>
          <p:nvPr/>
        </p:nvSpPr>
        <p:spPr>
          <a:xfrm>
            <a:off x="4828032" y="29260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absoluto promedio en puntos ICFES. Más interpretable.</a:t>
            </a:r>
            <a:endParaRPr lang="en-US" sz="850" dirty="0"/>
          </a:p>
        </p:txBody>
      </p:sp>
      <p:sp>
        <p:nvSpPr>
          <p:cNvPr id="237" name="Shape 235"/>
          <p:cNvSpPr/>
          <p:nvPr/>
        </p:nvSpPr>
        <p:spPr>
          <a:xfrm>
            <a:off x="4709160" y="3328416"/>
            <a:ext cx="4069080" cy="658368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709160" y="3328416"/>
            <a:ext cx="54864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4828032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</a:t>
            </a:r>
            <a:endParaRPr lang="en-US" sz="1300" dirty="0"/>
          </a:p>
        </p:txBody>
      </p:sp>
      <p:sp>
        <p:nvSpPr>
          <p:cNvPr id="240" name="Shape 238"/>
          <p:cNvSpPr/>
          <p:nvPr/>
        </p:nvSpPr>
        <p:spPr>
          <a:xfrm>
            <a:off x="5760720" y="3383280"/>
            <a:ext cx="2880360" cy="237744"/>
          </a:xfrm>
          <a:prstGeom prst="rect">
            <a:avLst/>
          </a:prstGeom>
          <a:solidFill>
            <a:srgbClr val="050B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5806440" y="34015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SS_res / SS_tot</a:t>
            </a:r>
            <a:endParaRPr lang="en-US" sz="900" dirty="0"/>
          </a:p>
        </p:txBody>
      </p:sp>
      <p:sp>
        <p:nvSpPr>
          <p:cNvPr id="242" name="Text 240"/>
          <p:cNvSpPr/>
          <p:nvPr/>
        </p:nvSpPr>
        <p:spPr>
          <a:xfrm>
            <a:off x="4828032" y="36758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de variabilidad explicada por el modelo. Cercano a 1 = mejor.</a:t>
            </a:r>
            <a:endParaRPr lang="en-US" sz="850" dirty="0"/>
          </a:p>
        </p:txBody>
      </p:sp>
      <p:sp>
        <p:nvSpPr>
          <p:cNvPr id="243" name="Shape 241"/>
          <p:cNvSpPr/>
          <p:nvPr/>
        </p:nvSpPr>
        <p:spPr>
          <a:xfrm>
            <a:off x="4709160" y="4078224"/>
            <a:ext cx="4069080" cy="658368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709160" y="4078224"/>
            <a:ext cx="54864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4828032" y="4114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Silhouette</a:t>
            </a:r>
            <a:endParaRPr lang="en-US" sz="1300" dirty="0"/>
          </a:p>
        </p:txBody>
      </p:sp>
      <p:sp>
        <p:nvSpPr>
          <p:cNvPr id="246" name="Shape 244"/>
          <p:cNvSpPr/>
          <p:nvPr/>
        </p:nvSpPr>
        <p:spPr>
          <a:xfrm>
            <a:off x="5760720" y="4133088"/>
            <a:ext cx="2880360" cy="237744"/>
          </a:xfrm>
          <a:prstGeom prst="rect">
            <a:avLst/>
          </a:prstGeom>
          <a:solidFill>
            <a:srgbClr val="050B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5806440" y="415137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S(i) = (b(i) − a(i)) / max(a,b)</a:t>
            </a:r>
            <a:endParaRPr lang="en-US" sz="900" dirty="0"/>
          </a:p>
        </p:txBody>
      </p:sp>
      <p:sp>
        <p:nvSpPr>
          <p:cNvPr id="248" name="Text 246"/>
          <p:cNvSpPr/>
          <p:nvPr/>
        </p:nvSpPr>
        <p:spPr>
          <a:xfrm>
            <a:off x="4828032" y="44256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y compacidad de clusters K-Means. Cercano a 1 = mejor.</a:t>
            </a:r>
            <a:endParaRPr lang="en-US" sz="850" dirty="0"/>
          </a:p>
        </p:txBody>
      </p:sp>
      <p:sp>
        <p:nvSpPr>
          <p:cNvPr id="249" name="Text 247"/>
          <p:cNvSpPr/>
          <p:nvPr/>
        </p:nvSpPr>
        <p:spPr>
          <a:xfrm>
            <a:off x="4709160" y="480974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parámetros RF: numTrees ∈ {20,50,100} × maxDepth ∈ {3,5,8} → 9 combinaciones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525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120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07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525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716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688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75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61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634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120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066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29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202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75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661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148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093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580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552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039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525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29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9202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175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661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066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0525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229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716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202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688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175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661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148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634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120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607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093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580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066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552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039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525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0" y="539496"/>
            <a:ext cx="9144000" cy="18288"/>
          </a:xfrm>
          <a:prstGeom prst="rect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RECOMENDACIONES AL MINISTERIO DE EDUCACIÓN</a:t>
            </a:r>
            <a:endParaRPr lang="en-US" sz="1600" dirty="0"/>
          </a:p>
        </p:txBody>
      </p:sp>
      <p:sp>
        <p:nvSpPr>
          <p:cNvPr id="159" name="Shape 157"/>
          <p:cNvSpPr/>
          <p:nvPr/>
        </p:nvSpPr>
        <p:spPr>
          <a:xfrm>
            <a:off x="182880" y="658368"/>
            <a:ext cx="4251960" cy="13258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82880" y="658368"/>
            <a:ext cx="502920" cy="132588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82880" y="11155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pic>
        <p:nvPicPr>
          <p:cNvPr id="1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704088"/>
            <a:ext cx="274320" cy="274320"/>
          </a:xfrm>
          <a:prstGeom prst="rect">
            <a:avLst/>
          </a:prstGeom>
        </p:spPr>
      </p:pic>
      <p:sp>
        <p:nvSpPr>
          <p:cNvPr id="163" name="Text 160"/>
          <p:cNvSpPr/>
          <p:nvPr/>
        </p:nvSpPr>
        <p:spPr>
          <a:xfrm>
            <a:off x="777240" y="731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Priorizar conectividad residencial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777240" y="111556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programas de internet subsidiado para estudiantes de bajos recursos en territorios rezagados.</a:t>
            </a:r>
            <a:endParaRPr lang="en-US" sz="950" dirty="0"/>
          </a:p>
        </p:txBody>
      </p:sp>
      <p:sp>
        <p:nvSpPr>
          <p:cNvPr id="165" name="Shape 162"/>
          <p:cNvSpPr/>
          <p:nvPr/>
        </p:nvSpPr>
        <p:spPr>
          <a:xfrm>
            <a:off x="182880" y="2121408"/>
            <a:ext cx="4251960" cy="13258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182880" y="2121408"/>
            <a:ext cx="502920" cy="1325880"/>
          </a:xfrm>
          <a:prstGeom prst="rect">
            <a:avLst/>
          </a:prstGeom>
          <a:solidFill>
            <a:srgbClr val="7B2FFF">
              <a:alpha val="8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182880" y="2578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pic>
        <p:nvPicPr>
          <p:cNvPr id="16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167128"/>
            <a:ext cx="274320" cy="274320"/>
          </a:xfrm>
          <a:prstGeom prst="rect">
            <a:avLst/>
          </a:prstGeom>
        </p:spPr>
      </p:pic>
      <p:sp>
        <p:nvSpPr>
          <p:cNvPr id="169" name="Text 165"/>
          <p:cNvSpPr/>
          <p:nvPr/>
        </p:nvSpPr>
        <p:spPr>
          <a:xfrm>
            <a:off x="777240" y="2194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Dotar de dispositivos</a:t>
            </a:r>
            <a:endParaRPr lang="en-US" sz="1050" dirty="0"/>
          </a:p>
        </p:txBody>
      </p:sp>
      <p:sp>
        <p:nvSpPr>
          <p:cNvPr id="170" name="Text 166"/>
          <p:cNvSpPr/>
          <p:nvPr/>
        </p:nvSpPr>
        <p:spPr>
          <a:xfrm>
            <a:off x="777240" y="257860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 conectividad con computadores. Sin equipo, el acceso a red no se traduce en aprendizaje.</a:t>
            </a:r>
            <a:endParaRPr lang="en-US" sz="950" dirty="0"/>
          </a:p>
        </p:txBody>
      </p:sp>
      <p:sp>
        <p:nvSpPr>
          <p:cNvPr id="171" name="Shape 167"/>
          <p:cNvSpPr/>
          <p:nvPr/>
        </p:nvSpPr>
        <p:spPr>
          <a:xfrm>
            <a:off x="182880" y="3584448"/>
            <a:ext cx="4251960" cy="13258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2" name="Shape 168"/>
          <p:cNvSpPr/>
          <p:nvPr/>
        </p:nvSpPr>
        <p:spPr>
          <a:xfrm>
            <a:off x="182880" y="3584448"/>
            <a:ext cx="502920" cy="1325880"/>
          </a:xfrm>
          <a:prstGeom prst="rect">
            <a:avLst/>
          </a:prstGeom>
          <a:solidFill>
            <a:srgbClr val="00FF94">
              <a:alpha val="8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73" name="Text 169"/>
          <p:cNvSpPr/>
          <p:nvPr/>
        </p:nvSpPr>
        <p:spPr>
          <a:xfrm>
            <a:off x="182880" y="40416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pic>
        <p:nvPicPr>
          <p:cNvPr id="17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630168"/>
            <a:ext cx="274320" cy="274320"/>
          </a:xfrm>
          <a:prstGeom prst="rect">
            <a:avLst/>
          </a:prstGeom>
        </p:spPr>
      </p:pic>
      <p:sp>
        <p:nvSpPr>
          <p:cNvPr id="175" name="Text 170"/>
          <p:cNvSpPr/>
          <p:nvPr/>
        </p:nvSpPr>
        <p:spPr>
          <a:xfrm>
            <a:off x="777240" y="3657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Analizar por indicadores per cápita</a:t>
            </a:r>
            <a:endParaRPr lang="en-US" sz="1050" dirty="0"/>
          </a:p>
        </p:txBody>
      </p:sp>
      <p:sp>
        <p:nvSpPr>
          <p:cNvPr id="176" name="Text 171"/>
          <p:cNvSpPr/>
          <p:nvPr/>
        </p:nvSpPr>
        <p:spPr>
          <a:xfrm>
            <a:off x="777240" y="404164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municipios usando conectividad relativa, no absoluta, para evitar lecturas engañosas.</a:t>
            </a:r>
            <a:endParaRPr lang="en-US" sz="950" dirty="0"/>
          </a:p>
        </p:txBody>
      </p:sp>
      <p:sp>
        <p:nvSpPr>
          <p:cNvPr id="177" name="Shape 172"/>
          <p:cNvSpPr/>
          <p:nvPr/>
        </p:nvSpPr>
        <p:spPr>
          <a:xfrm>
            <a:off x="4663440" y="658368"/>
            <a:ext cx="4251960" cy="13258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4663440" y="658368"/>
            <a:ext cx="502920" cy="132588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9" name="Text 174"/>
          <p:cNvSpPr/>
          <p:nvPr/>
        </p:nvSpPr>
        <p:spPr>
          <a:xfrm>
            <a:off x="4663440" y="11155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pic>
        <p:nvPicPr>
          <p:cNvPr id="18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704088"/>
            <a:ext cx="274320" cy="274320"/>
          </a:xfrm>
          <a:prstGeom prst="rect">
            <a:avLst/>
          </a:prstGeom>
        </p:spPr>
      </p:pic>
      <p:sp>
        <p:nvSpPr>
          <p:cNvPr id="181" name="Text 175"/>
          <p:cNvSpPr/>
          <p:nvPr/>
        </p:nvSpPr>
        <p:spPr>
          <a:xfrm>
            <a:off x="5257800" y="731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Articular inversión SGP con metas TIC</a:t>
            </a:r>
            <a:endParaRPr lang="en-US" sz="1050" dirty="0"/>
          </a:p>
        </p:txBody>
      </p:sp>
      <p:sp>
        <p:nvSpPr>
          <p:cNvPr id="182" name="Text 176"/>
          <p:cNvSpPr/>
          <p:nvPr/>
        </p:nvSpPr>
        <p:spPr>
          <a:xfrm>
            <a:off x="5257800" y="111556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educativa debe asociarse a proyectos medibles: infraestructura, capacitación y recursos digitales.</a:t>
            </a:r>
            <a:endParaRPr lang="en-US" sz="950" dirty="0"/>
          </a:p>
        </p:txBody>
      </p:sp>
      <p:sp>
        <p:nvSpPr>
          <p:cNvPr id="183" name="Shape 177"/>
          <p:cNvSpPr/>
          <p:nvPr/>
        </p:nvSpPr>
        <p:spPr>
          <a:xfrm>
            <a:off x="4663440" y="2121408"/>
            <a:ext cx="4251960" cy="13258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4663440" y="2121408"/>
            <a:ext cx="502920" cy="132588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5" name="Text 179"/>
          <p:cNvSpPr/>
          <p:nvPr/>
        </p:nvSpPr>
        <p:spPr>
          <a:xfrm>
            <a:off x="4663440" y="2578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pic>
        <p:nvPicPr>
          <p:cNvPr id="18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2167128"/>
            <a:ext cx="274320" cy="274320"/>
          </a:xfrm>
          <a:prstGeom prst="rect">
            <a:avLst/>
          </a:prstGeom>
        </p:spPr>
      </p:pic>
      <p:sp>
        <p:nvSpPr>
          <p:cNvPr id="187" name="Text 180"/>
          <p:cNvSpPr/>
          <p:nvPr/>
        </p:nvSpPr>
        <p:spPr>
          <a:xfrm>
            <a:off x="5257800" y="2194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Intervenciones diferenciadas por cluster</a:t>
            </a:r>
            <a:endParaRPr lang="en-US" sz="1050" dirty="0"/>
          </a:p>
        </p:txBody>
      </p:sp>
      <p:sp>
        <p:nvSpPr>
          <p:cNvPr id="188" name="Text 181"/>
          <p:cNvSpPr/>
          <p:nvPr/>
        </p:nvSpPr>
        <p:spPr>
          <a:xfrm>
            <a:off x="5257800" y="257860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los perfiles K-Means para diseñar estrategias específicas según nivel de riesgo y rendimiento.</a:t>
            </a:r>
            <a:endParaRPr lang="en-US" sz="950" dirty="0"/>
          </a:p>
        </p:txBody>
      </p:sp>
      <p:sp>
        <p:nvSpPr>
          <p:cNvPr id="189" name="Shape 182"/>
          <p:cNvSpPr/>
          <p:nvPr/>
        </p:nvSpPr>
        <p:spPr>
          <a:xfrm>
            <a:off x="4663440" y="3584448"/>
            <a:ext cx="4251960" cy="132588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0" name="Shape 183"/>
          <p:cNvSpPr/>
          <p:nvPr/>
        </p:nvSpPr>
        <p:spPr>
          <a:xfrm>
            <a:off x="4663440" y="3584448"/>
            <a:ext cx="502920" cy="1325880"/>
          </a:xfrm>
          <a:prstGeom prst="rect">
            <a:avLst/>
          </a:prstGeom>
          <a:solidFill>
            <a:srgbClr val="00FF94">
              <a:alpha val="8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91" name="Text 184"/>
          <p:cNvSpPr/>
          <p:nvPr/>
        </p:nvSpPr>
        <p:spPr>
          <a:xfrm>
            <a:off x="4663440" y="40416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pic>
        <p:nvPicPr>
          <p:cNvPr id="19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630168"/>
            <a:ext cx="274320" cy="274320"/>
          </a:xfrm>
          <a:prstGeom prst="rect">
            <a:avLst/>
          </a:prstGeom>
        </p:spPr>
      </p:pic>
      <p:sp>
        <p:nvSpPr>
          <p:cNvPr id="193" name="Text 185"/>
          <p:cNvSpPr/>
          <p:nvPr/>
        </p:nvSpPr>
        <p:spPr>
          <a:xfrm>
            <a:off x="5257800" y="3657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Fortalecer bibliotecas y espacios digitales</a:t>
            </a:r>
            <a:endParaRPr lang="en-US" sz="1050" dirty="0"/>
          </a:p>
        </p:txBody>
      </p:sp>
      <p:sp>
        <p:nvSpPr>
          <p:cNvPr id="194" name="Text 186"/>
          <p:cNvSpPr/>
          <p:nvPr/>
        </p:nvSpPr>
        <p:spPr>
          <a:xfrm>
            <a:off x="5257800" y="404164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bibliotecas como nodos de acceso con internet, equipos y acompañamiento pedagógico.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525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120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07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525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716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688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75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61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634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120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066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29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202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75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661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148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093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580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552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039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525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29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9202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175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661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066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0525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229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716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202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688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175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661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148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634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120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607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093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580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066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552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039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525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0" y="539496"/>
            <a:ext cx="9144000" cy="18288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CONCLUSIONES Y LIMITACIONES</a:t>
            </a:r>
            <a:endParaRPr lang="en-US" sz="1800" dirty="0"/>
          </a:p>
        </p:txBody>
      </p:sp>
      <p:sp>
        <p:nvSpPr>
          <p:cNvPr id="159" name="Shape 157"/>
          <p:cNvSpPr/>
          <p:nvPr/>
        </p:nvSpPr>
        <p:spPr>
          <a:xfrm>
            <a:off x="182880" y="621792"/>
            <a:ext cx="5303520" cy="42519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82880" y="621792"/>
            <a:ext cx="5303520" cy="320040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20040" y="640080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CONCLUSIONES CLAVE</a:t>
            </a:r>
            <a:endParaRPr lang="en-US" sz="1100" dirty="0"/>
          </a:p>
        </p:txBody>
      </p:sp>
      <p:sp>
        <p:nvSpPr>
          <p:cNvPr id="162" name="Shape 160"/>
          <p:cNvSpPr/>
          <p:nvPr/>
        </p:nvSpPr>
        <p:spPr>
          <a:xfrm>
            <a:off x="274320" y="1097280"/>
            <a:ext cx="54864" cy="34747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11480" y="10058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Multifactorial</a:t>
            </a:r>
            <a:endParaRPr lang="en-US" sz="1000" dirty="0"/>
          </a:p>
        </p:txBody>
      </p:sp>
      <p:sp>
        <p:nvSpPr>
          <p:cNvPr id="164" name="Text 162"/>
          <p:cNvSpPr/>
          <p:nvPr/>
        </p:nvSpPr>
        <p:spPr>
          <a:xfrm>
            <a:off x="411480" y="123444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académico no depende de un único factor: conectividad, socioeconómico, dispositivos, origen institucional e inversión pública actúan en conjunto.</a:t>
            </a:r>
            <a:endParaRPr lang="en-US" sz="950" dirty="0"/>
          </a:p>
        </p:txBody>
      </p:sp>
      <p:sp>
        <p:nvSpPr>
          <p:cNvPr id="165" name="Shape 163"/>
          <p:cNvSpPr/>
          <p:nvPr/>
        </p:nvSpPr>
        <p:spPr>
          <a:xfrm>
            <a:off x="274320" y="1719072"/>
            <a:ext cx="54864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11480" y="16276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Brecha digital-educativa</a:t>
            </a:r>
            <a:endParaRPr lang="en-US" sz="1000" dirty="0"/>
          </a:p>
        </p:txBody>
      </p:sp>
      <p:sp>
        <p:nvSpPr>
          <p:cNvPr id="167" name="Text 165"/>
          <p:cNvSpPr/>
          <p:nvPr/>
        </p:nvSpPr>
        <p:spPr>
          <a:xfrm>
            <a:off x="411480" y="18562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con internet en hogar presentan mejor rendimiento promedio. La brecha tiene dimensión digital, social e institucional.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274320" y="2340864"/>
            <a:ext cx="54864" cy="34747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11480" y="22494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Conectividad ≠ Resultados</a:t>
            </a:r>
            <a:endParaRPr lang="en-US" sz="1000" dirty="0"/>
          </a:p>
        </p:txBody>
      </p:sp>
      <p:sp>
        <p:nvSpPr>
          <p:cNvPr id="170" name="Text 168"/>
          <p:cNvSpPr/>
          <p:nvPr/>
        </p:nvSpPr>
        <p:spPr>
          <a:xfrm>
            <a:off x="411480" y="247802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mayor penetración de internet per cápita no garantiza automáticamente mejor rendimiento (caso Quibdó).</a:t>
            </a:r>
            <a:endParaRPr lang="en-US" sz="950" dirty="0"/>
          </a:p>
        </p:txBody>
      </p:sp>
      <p:sp>
        <p:nvSpPr>
          <p:cNvPr id="171" name="Shape 169"/>
          <p:cNvSpPr/>
          <p:nvPr/>
        </p:nvSpPr>
        <p:spPr>
          <a:xfrm>
            <a:off x="274320" y="2962656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11480" y="287121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Predicción con RF</a:t>
            </a:r>
            <a:endParaRPr lang="en-US" sz="1000" dirty="0"/>
          </a:p>
        </p:txBody>
      </p:sp>
      <p:sp>
        <p:nvSpPr>
          <p:cNvPr id="173" name="Text 171"/>
          <p:cNvSpPr/>
          <p:nvPr/>
        </p:nvSpPr>
        <p:spPr>
          <a:xfrm>
            <a:off x="411480" y="309981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permite identificar factores de intervención prioritaria. Métricas RMSE, MAE y R² evalúan la calidad predictiva.</a:t>
            </a:r>
            <a:endParaRPr lang="en-US" sz="950" dirty="0"/>
          </a:p>
        </p:txBody>
      </p:sp>
      <p:sp>
        <p:nvSpPr>
          <p:cNvPr id="174" name="Shape 172"/>
          <p:cNvSpPr/>
          <p:nvPr/>
        </p:nvSpPr>
        <p:spPr>
          <a:xfrm>
            <a:off x="274320" y="3584448"/>
            <a:ext cx="54864" cy="34747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11480" y="34930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Segmentación con K-Means</a:t>
            </a:r>
            <a:endParaRPr lang="en-US" sz="1000" dirty="0"/>
          </a:p>
        </p:txBody>
      </p:sp>
      <p:sp>
        <p:nvSpPr>
          <p:cNvPr id="176" name="Text 174"/>
          <p:cNvSpPr/>
          <p:nvPr/>
        </p:nvSpPr>
        <p:spPr>
          <a:xfrm>
            <a:off x="411480" y="372160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clusters identifican perfiles de necesidad diferenciada: de baja conectividad+bajo rendimiento a condiciones favorables.</a:t>
            </a:r>
            <a:endParaRPr lang="en-US" sz="950" dirty="0"/>
          </a:p>
        </p:txBody>
      </p:sp>
      <p:sp>
        <p:nvSpPr>
          <p:cNvPr id="177" name="Shape 175"/>
          <p:cNvSpPr/>
          <p:nvPr/>
        </p:nvSpPr>
        <p:spPr>
          <a:xfrm>
            <a:off x="274320" y="4206240"/>
            <a:ext cx="54864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411480" y="4114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Procesamiento Big Data</a:t>
            </a:r>
            <a:endParaRPr lang="en-US" sz="1000" dirty="0"/>
          </a:p>
        </p:txBody>
      </p:sp>
      <p:sp>
        <p:nvSpPr>
          <p:cNvPr id="179" name="Text 177"/>
          <p:cNvSpPr/>
          <p:nvPr/>
        </p:nvSpPr>
        <p:spPr>
          <a:xfrm>
            <a:off x="411480" y="434340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MLlib permite escalar el análisis y pasar de exploración descriptiva a modelos accionables de política pública.</a:t>
            </a:r>
            <a:endParaRPr lang="en-US" sz="950" dirty="0"/>
          </a:p>
        </p:txBody>
      </p:sp>
      <p:sp>
        <p:nvSpPr>
          <p:cNvPr id="180" name="Shape 178"/>
          <p:cNvSpPr/>
          <p:nvPr/>
        </p:nvSpPr>
        <p:spPr>
          <a:xfrm>
            <a:off x="5669280" y="621792"/>
            <a:ext cx="3291840" cy="19659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669280" y="621792"/>
            <a:ext cx="3291840" cy="292608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760720" y="640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LIMITACIONES</a:t>
            </a:r>
            <a:endParaRPr lang="en-US" sz="1000" dirty="0"/>
          </a:p>
        </p:txBody>
      </p:sp>
      <p:sp>
        <p:nvSpPr>
          <p:cNvPr id="183" name="Shape 181"/>
          <p:cNvSpPr/>
          <p:nvPr/>
        </p:nvSpPr>
        <p:spPr>
          <a:xfrm>
            <a:off x="5760720" y="1005840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943600" y="960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temporales entre fuentes de datos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5760720" y="1298448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943600" y="12527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ICFES puede ocultar diferencias por área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5760720" y="1591056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943600" y="15453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 ausentes (calidad docente, deserción)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5760720" y="1883664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5943600" y="18379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sensible a normalización de variables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5760720" y="2176272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943600" y="21305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descriptivas, no causales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5669280" y="2697480"/>
            <a:ext cx="3291840" cy="214884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669280" y="2697480"/>
            <a:ext cx="3291840" cy="292608"/>
          </a:xfrm>
          <a:prstGeom prst="rect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7B2FFF">
                <a:alpha val="70000"/>
              </a:srgbClr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5760720" y="2715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TRABAJO FUTURO</a:t>
            </a:r>
            <a:endParaRPr lang="en-US" sz="1000" dirty="0"/>
          </a:p>
        </p:txBody>
      </p:sp>
      <p:sp>
        <p:nvSpPr>
          <p:cNvPr id="196" name="Shape 194"/>
          <p:cNvSpPr/>
          <p:nvPr/>
        </p:nvSpPr>
        <p:spPr>
          <a:xfrm>
            <a:off x="5760720" y="3090672"/>
            <a:ext cx="91440" cy="9144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943600" y="30449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más años para análisis temporal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5760720" y="3383280"/>
            <a:ext cx="91440" cy="9144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943600" y="3337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pobreza, deserción, ruralidad, calidad inst.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5760720" y="3675888"/>
            <a:ext cx="91440" cy="9144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943600" y="3630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Gradient-Boosted Trees y regresión regularizada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5760720" y="3968496"/>
            <a:ext cx="91440" cy="9144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943600" y="39227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clasificación: estudiantes en riesgo</a:t>
            </a:r>
            <a:endParaRPr lang="en-US" sz="900" dirty="0"/>
          </a:p>
        </p:txBody>
      </p:sp>
      <p:sp>
        <p:nvSpPr>
          <p:cNvPr id="204" name="Shape 202"/>
          <p:cNvSpPr/>
          <p:nvPr/>
        </p:nvSpPr>
        <p:spPr>
          <a:xfrm>
            <a:off x="5760720" y="4261104"/>
            <a:ext cx="91440" cy="9144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5943600" y="421538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BONO: Red neuronal profunda vs Random Forest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1371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5256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0" y="7315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688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175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661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120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5528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5256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01200" y="13258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716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688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661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148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120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80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5256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9202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716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202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688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0175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661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1148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6634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2120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607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093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8580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0664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95528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50392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05256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601200" y="25146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29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3716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9202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4688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175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661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1148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6634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120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8580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40664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95528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05256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601200" y="310896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743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229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716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9202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4688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0175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5661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148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634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7607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3093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8580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0664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95528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50392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5256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601200" y="370332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229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9202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0175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5661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6634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7607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40664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05256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601200" y="429768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743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229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3716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9202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4688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0175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5661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1148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6634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120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607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3093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8580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40664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95528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50392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05256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601200" y="489204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7432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2296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37160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92024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46888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01752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56616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11480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66344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21208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76072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0936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85800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40664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95528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50392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05256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601200" y="5486400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3152" y="0"/>
            <a:ext cx="9070848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20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GRACIAS</a:t>
            </a:r>
            <a:endParaRPr lang="en-US" sz="7200" dirty="0"/>
          </a:p>
        </p:txBody>
      </p:sp>
      <p:sp>
        <p:nvSpPr>
          <p:cNvPr id="186" name="Shape 184"/>
          <p:cNvSpPr/>
          <p:nvPr/>
        </p:nvSpPr>
        <p:spPr>
          <a:xfrm>
            <a:off x="1828800" y="2103120"/>
            <a:ext cx="548640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828800" y="2139696"/>
            <a:ext cx="5486400" cy="18288"/>
          </a:xfrm>
          <a:prstGeom prst="rect">
            <a:avLst/>
          </a:prstGeom>
          <a:solidFill>
            <a:srgbClr val="00FF94">
              <a:alpha val="40000"/>
            </a:srgbClr>
          </a:solidFill>
          <a:ln w="12700">
            <a:solidFill>
              <a:srgbClr val="00FF94">
                <a:alpha val="40000"/>
              </a:srgbClr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Alto Volumen de Datos  ·  Entrega 2</a:t>
            </a:r>
            <a:endParaRPr lang="en-US" sz="1400" dirty="0"/>
          </a:p>
        </p:txBody>
      </p:sp>
      <p:sp>
        <p:nvSpPr>
          <p:cNvPr id="189" name="Text 187"/>
          <p:cNvSpPr/>
          <p:nvPr/>
        </p:nvSpPr>
        <p:spPr>
          <a:xfrm>
            <a:off x="457200" y="2670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16  ·  Pontificia Universidad Javeriana  ·  2026</a:t>
            </a:r>
            <a:endParaRPr lang="en-US" sz="1200" dirty="0"/>
          </a:p>
        </p:txBody>
      </p:sp>
      <p:sp>
        <p:nvSpPr>
          <p:cNvPr id="190" name="Shape 188"/>
          <p:cNvSpPr/>
          <p:nvPr/>
        </p:nvSpPr>
        <p:spPr>
          <a:xfrm>
            <a:off x="731520" y="3246120"/>
            <a:ext cx="1691640" cy="8229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31520" y="3246120"/>
            <a:ext cx="16916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31520" y="33101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FUENTES</a:t>
            </a:r>
            <a:endParaRPr lang="en-US" sz="1150" dirty="0"/>
          </a:p>
        </p:txBody>
      </p:sp>
      <p:sp>
        <p:nvSpPr>
          <p:cNvPr id="193" name="Shape 191"/>
          <p:cNvSpPr/>
          <p:nvPr/>
        </p:nvSpPr>
        <p:spPr>
          <a:xfrm>
            <a:off x="2697480" y="3246120"/>
            <a:ext cx="1691640" cy="8229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697480" y="3246120"/>
            <a:ext cx="169164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697480" y="33101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PREGUNTAS</a:t>
            </a:r>
            <a:endParaRPr lang="en-US" sz="1150" dirty="0"/>
          </a:p>
        </p:txBody>
      </p:sp>
      <p:sp>
        <p:nvSpPr>
          <p:cNvPr id="196" name="Shape 194"/>
          <p:cNvSpPr/>
          <p:nvPr/>
        </p:nvSpPr>
        <p:spPr>
          <a:xfrm>
            <a:off x="4663440" y="3246120"/>
            <a:ext cx="1691640" cy="8229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663440" y="3246120"/>
            <a:ext cx="169164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663440" y="33101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MODELOS ML</a:t>
            </a:r>
            <a:endParaRPr lang="en-US" sz="1150" dirty="0"/>
          </a:p>
        </p:txBody>
      </p:sp>
      <p:sp>
        <p:nvSpPr>
          <p:cNvPr id="199" name="Shape 197"/>
          <p:cNvSpPr/>
          <p:nvPr/>
        </p:nvSpPr>
        <p:spPr>
          <a:xfrm>
            <a:off x="6629400" y="3246120"/>
            <a:ext cx="1691640" cy="822960"/>
          </a:xfrm>
          <a:prstGeom prst="rect">
            <a:avLst/>
          </a:prstGeom>
          <a:solidFill>
            <a:srgbClr val="0D1E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29400" y="3246120"/>
            <a:ext cx="16916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6629400" y="33101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RECOMENDACIONES</a:t>
            </a:r>
            <a:endParaRPr lang="en-US" sz="1150" dirty="0"/>
          </a:p>
        </p:txBody>
      </p:sp>
      <p:sp>
        <p:nvSpPr>
          <p:cNvPr id="202" name="Text 200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CRISP-DM  ·  APACHE SPARK  ·  MLLIB  ·  RANDOM FOREST  ·  K-MEANS  ·  SILHOUETTE</a:t>
            </a:r>
            <a:endParaRPr lang="en-US" sz="900" dirty="0"/>
          </a:p>
        </p:txBody>
      </p:sp>
      <p:sp>
        <p:nvSpPr>
          <p:cNvPr id="203" name="Text 201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Corredor, PhD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- ICFES &amp; Conectividad</dc:title>
  <dc:subject>PptxGenJS Presentation</dc:subject>
  <dc:creator>PptxGenJS</dc:creator>
  <cp:lastModifiedBy>PptxGenJS</cp:lastModifiedBy>
  <cp:revision>1</cp:revision>
  <dcterms:created xsi:type="dcterms:W3CDTF">2026-05-26T05:33:02Z</dcterms:created>
  <dcterms:modified xsi:type="dcterms:W3CDTF">2026-05-26T05:33:02Z</dcterms:modified>
</cp:coreProperties>
</file>